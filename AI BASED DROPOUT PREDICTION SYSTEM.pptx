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sldIdLst>
    <p:sldId id="530" r:id="rId5"/>
    <p:sldId id="531" r:id="rId6"/>
    <p:sldId id="533" r:id="rId7"/>
    <p:sldId id="547" r:id="rId8"/>
    <p:sldId id="545" r:id="rId9"/>
    <p:sldId id="559" r:id="rId10"/>
    <p:sldId id="560" r:id="rId11"/>
    <p:sldId id="557" r:id="rId12"/>
    <p:sldId id="558" r:id="rId13"/>
    <p:sldId id="539" r:id="rId14"/>
    <p:sldId id="552" r:id="rId15"/>
    <p:sldId id="561" r:id="rId16"/>
    <p:sldId id="562" r:id="rId17"/>
    <p:sldId id="543" r:id="rId18"/>
    <p:sldId id="563" r:id="rId19"/>
    <p:sldId id="54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422"/>
  </p:normalViewPr>
  <p:slideViewPr>
    <p:cSldViewPr snapToGrid="0">
      <p:cViewPr>
        <p:scale>
          <a:sx n="70" d="100"/>
          <a:sy n="70" d="100"/>
        </p:scale>
        <p:origin x="-744"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11/6/2025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dirty="0"/>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xmlns=""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9">
            <a:extLst>
              <a:ext uri="{FF2B5EF4-FFF2-40B4-BE49-F238E27FC236}">
                <a16:creationId xmlns:a16="http://schemas.microsoft.com/office/drawing/2014/main" xmlns=""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cxnSp>
        <p:nvCxnSpPr>
          <p:cNvPr id="6" name="Straight Connector 5">
            <a:extLst>
              <a:ext uri="{FF2B5EF4-FFF2-40B4-BE49-F238E27FC236}">
                <a16:creationId xmlns:a16="http://schemas.microsoft.com/office/drawing/2014/main" xmlns=""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xmlns=""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3">
            <a:extLst>
              <a:ext uri="{FF2B5EF4-FFF2-40B4-BE49-F238E27FC236}">
                <a16:creationId xmlns:a16="http://schemas.microsoft.com/office/drawing/2014/main" xmlns=""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4">
            <a:extLst>
              <a:ext uri="{FF2B5EF4-FFF2-40B4-BE49-F238E27FC236}">
                <a16:creationId xmlns:a16="http://schemas.microsoft.com/office/drawing/2014/main" xmlns=""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5">
            <a:extLst>
              <a:ext uri="{FF2B5EF4-FFF2-40B4-BE49-F238E27FC236}">
                <a16:creationId xmlns:a16="http://schemas.microsoft.com/office/drawing/2014/main" xmlns=""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itle 1">
            <a:extLst>
              <a:ext uri="{FF2B5EF4-FFF2-40B4-BE49-F238E27FC236}">
                <a16:creationId xmlns:a16="http://schemas.microsoft.com/office/drawing/2014/main" xmlns=""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xmlns=""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18">
            <a:extLst>
              <a:ext uri="{FF2B5EF4-FFF2-40B4-BE49-F238E27FC236}">
                <a16:creationId xmlns:a16="http://schemas.microsoft.com/office/drawing/2014/main" xmlns=""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12">
            <a:extLst>
              <a:ext uri="{FF2B5EF4-FFF2-40B4-BE49-F238E27FC236}">
                <a16:creationId xmlns:a16="http://schemas.microsoft.com/office/drawing/2014/main" xmlns=""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Slide Number Placeholder 7">
            <a:extLst>
              <a:ext uri="{FF2B5EF4-FFF2-40B4-BE49-F238E27FC236}">
                <a16:creationId xmlns:a16="http://schemas.microsoft.com/office/drawing/2014/main" xmlns=""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7" name="Footer Placeholder 6">
            <a:extLst>
              <a:ext uri="{FF2B5EF4-FFF2-40B4-BE49-F238E27FC236}">
                <a16:creationId xmlns:a16="http://schemas.microsoft.com/office/drawing/2014/main" xmlns="" id="{BAF040BB-6465-852C-B53C-074E90BB09D1}"/>
              </a:ext>
            </a:extLst>
          </p:cNvPr>
          <p:cNvSpPr>
            <a:spLocks noGrp="1"/>
          </p:cNvSpPr>
          <p:nvPr>
            <p:ph type="ftr" sz="quarter" idx="10"/>
          </p:nvPr>
        </p:nvSpPr>
        <p:spPr/>
        <p:txBody>
          <a:bodyPr>
            <a:noAutofit/>
          </a:bodyPr>
          <a:lstStyle/>
          <a:p>
            <a:r>
              <a:rPr lang="en-US"/>
              <a:t>Crypto: investing &amp; trading</a:t>
            </a:r>
            <a:endParaRPr lang="en-US" dirty="0"/>
          </a:p>
        </p:txBody>
      </p:sp>
      <p:sp>
        <p:nvSpPr>
          <p:cNvPr id="2" name="Title 1">
            <a:extLst>
              <a:ext uri="{FF2B5EF4-FFF2-40B4-BE49-F238E27FC236}">
                <a16:creationId xmlns:a16="http://schemas.microsoft.com/office/drawing/2014/main" xmlns=""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xmlns=""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2" name="Freeform: Shape 21">
            <a:extLst>
              <a:ext uri="{FF2B5EF4-FFF2-40B4-BE49-F238E27FC236}">
                <a16:creationId xmlns:a16="http://schemas.microsoft.com/office/drawing/2014/main" xmlns=""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5" name="Freeform: Shape 14">
            <a:extLst>
              <a:ext uri="{FF2B5EF4-FFF2-40B4-BE49-F238E27FC236}">
                <a16:creationId xmlns:a16="http://schemas.microsoft.com/office/drawing/2014/main" xmlns=""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1" name="glass card">
            <a:extLst>
              <a:ext uri="{FF2B5EF4-FFF2-40B4-BE49-F238E27FC236}">
                <a16:creationId xmlns:a16="http://schemas.microsoft.com/office/drawing/2014/main" xmlns=""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7" name="Freeform: Shape 26">
            <a:extLst>
              <a:ext uri="{FF2B5EF4-FFF2-40B4-BE49-F238E27FC236}">
                <a16:creationId xmlns:a16="http://schemas.microsoft.com/office/drawing/2014/main" xmlns=""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cxnSp>
        <p:nvCxnSpPr>
          <p:cNvPr id="28" name="Straight Connector 27">
            <a:extLst>
              <a:ext uri="{FF2B5EF4-FFF2-40B4-BE49-F238E27FC236}">
                <a16:creationId xmlns:a16="http://schemas.microsoft.com/office/drawing/2014/main" xmlns=""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reeform 3">
            <a:extLst>
              <a:ext uri="{FF2B5EF4-FFF2-40B4-BE49-F238E27FC236}">
                <a16:creationId xmlns:a16="http://schemas.microsoft.com/office/drawing/2014/main" xmlns=""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4">
            <a:extLst>
              <a:ext uri="{FF2B5EF4-FFF2-40B4-BE49-F238E27FC236}">
                <a16:creationId xmlns:a16="http://schemas.microsoft.com/office/drawing/2014/main" xmlns=""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5">
            <a:extLst>
              <a:ext uri="{FF2B5EF4-FFF2-40B4-BE49-F238E27FC236}">
                <a16:creationId xmlns:a16="http://schemas.microsoft.com/office/drawing/2014/main" xmlns=""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6">
            <a:extLst>
              <a:ext uri="{FF2B5EF4-FFF2-40B4-BE49-F238E27FC236}">
                <a16:creationId xmlns:a16="http://schemas.microsoft.com/office/drawing/2014/main" xmlns=""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xmlns=""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4">
            <a:extLst>
              <a:ext uri="{FF2B5EF4-FFF2-40B4-BE49-F238E27FC236}">
                <a16:creationId xmlns:a16="http://schemas.microsoft.com/office/drawing/2014/main" xmlns=""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dirty="0"/>
          </a:p>
        </p:txBody>
      </p:sp>
      <p:sp>
        <p:nvSpPr>
          <p:cNvPr id="4" name="Footer Placeholder 3">
            <a:extLst>
              <a:ext uri="{FF2B5EF4-FFF2-40B4-BE49-F238E27FC236}">
                <a16:creationId xmlns:a16="http://schemas.microsoft.com/office/drawing/2014/main" xmlns="" id="{33FA0756-78EA-68DD-4650-F40EF5F2520E}"/>
              </a:ext>
            </a:extLst>
          </p:cNvPr>
          <p:cNvSpPr>
            <a:spLocks noGrp="1"/>
          </p:cNvSpPr>
          <p:nvPr>
            <p:ph type="ftr" sz="quarter" idx="10"/>
          </p:nvPr>
        </p:nvSpPr>
        <p:spPr/>
        <p:txBody>
          <a:bodyPr>
            <a:noAutofit/>
          </a:bodyPr>
          <a:lstStyle/>
          <a:p>
            <a:r>
              <a:rPr lang="en-US"/>
              <a:t>Crypto: investing &amp; trading</a:t>
            </a:r>
            <a:endParaRPr lang="en-US" dirty="0"/>
          </a:p>
        </p:txBody>
      </p:sp>
    </p:spTree>
    <p:extLst>
      <p:ext uri="{BB962C8B-B14F-4D97-AF65-F5344CB8AC3E}">
        <p14:creationId xmlns:p14="http://schemas.microsoft.com/office/powerpoint/2010/main" val="734534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xmlns=""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7">
            <a:extLst>
              <a:ext uri="{FF2B5EF4-FFF2-40B4-BE49-F238E27FC236}">
                <a16:creationId xmlns:a16="http://schemas.microsoft.com/office/drawing/2014/main" xmlns=""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9">
            <a:extLst>
              <a:ext uri="{FF2B5EF4-FFF2-40B4-BE49-F238E27FC236}">
                <a16:creationId xmlns:a16="http://schemas.microsoft.com/office/drawing/2014/main" xmlns=""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10">
            <a:extLst>
              <a:ext uri="{FF2B5EF4-FFF2-40B4-BE49-F238E27FC236}">
                <a16:creationId xmlns:a16="http://schemas.microsoft.com/office/drawing/2014/main" xmlns=""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16">
            <a:extLst>
              <a:ext uri="{FF2B5EF4-FFF2-40B4-BE49-F238E27FC236}">
                <a16:creationId xmlns:a16="http://schemas.microsoft.com/office/drawing/2014/main" xmlns=""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17">
            <a:extLst>
              <a:ext uri="{FF2B5EF4-FFF2-40B4-BE49-F238E27FC236}">
                <a16:creationId xmlns:a16="http://schemas.microsoft.com/office/drawing/2014/main" xmlns=""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18">
            <a:extLst>
              <a:ext uri="{FF2B5EF4-FFF2-40B4-BE49-F238E27FC236}">
                <a16:creationId xmlns:a16="http://schemas.microsoft.com/office/drawing/2014/main" xmlns=""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19">
            <a:extLst>
              <a:ext uri="{FF2B5EF4-FFF2-40B4-BE49-F238E27FC236}">
                <a16:creationId xmlns:a16="http://schemas.microsoft.com/office/drawing/2014/main" xmlns=""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xmlns=""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892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xmlns=""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xmlns=""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xmlns=""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xmlns=""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xmlns=""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xmlns=""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xmlns=""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xmlns=""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xmlns=""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xmlns=""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xmlns=""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xmlns="" id="{CC652500-B558-F785-439F-12315F433125}"/>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xmlns=""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dirty="0"/>
          </a:p>
        </p:txBody>
      </p:sp>
      <p:cxnSp>
        <p:nvCxnSpPr>
          <p:cNvPr id="5" name="Straight Connector 4">
            <a:extLst>
              <a:ext uri="{FF2B5EF4-FFF2-40B4-BE49-F238E27FC236}">
                <a16:creationId xmlns:a16="http://schemas.microsoft.com/office/drawing/2014/main" xmlns=""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xmlns=""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xmlns=""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xmlns=""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xmlns=""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a:extLst>
              <a:ext uri="{FF2B5EF4-FFF2-40B4-BE49-F238E27FC236}">
                <a16:creationId xmlns:a16="http://schemas.microsoft.com/office/drawing/2014/main" xmlns=""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xmlns=""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xmlns=""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xmlns=""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xmlns=""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xmlns=""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xmlns=""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1">
            <a:extLst>
              <a:ext uri="{FF2B5EF4-FFF2-40B4-BE49-F238E27FC236}">
                <a16:creationId xmlns:a16="http://schemas.microsoft.com/office/drawing/2014/main" xmlns=""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xmlns=""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xmlns=""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xmlns=""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xmlns=""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xmlns=""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xmlns=""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xmlns=""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xmlns=""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xmlns=""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xmlns=""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1" name="Picture Placeholder 29">
            <a:extLst>
              <a:ext uri="{FF2B5EF4-FFF2-40B4-BE49-F238E27FC236}">
                <a16:creationId xmlns:a16="http://schemas.microsoft.com/office/drawing/2014/main" xmlns=""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2" name="Picture Placeholder 29">
            <a:extLst>
              <a:ext uri="{FF2B5EF4-FFF2-40B4-BE49-F238E27FC236}">
                <a16:creationId xmlns:a16="http://schemas.microsoft.com/office/drawing/2014/main" xmlns=""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3" name="Picture Placeholder 29">
            <a:extLst>
              <a:ext uri="{FF2B5EF4-FFF2-40B4-BE49-F238E27FC236}">
                <a16:creationId xmlns:a16="http://schemas.microsoft.com/office/drawing/2014/main" xmlns=""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34" name="Picture Placeholder 29">
            <a:extLst>
              <a:ext uri="{FF2B5EF4-FFF2-40B4-BE49-F238E27FC236}">
                <a16:creationId xmlns:a16="http://schemas.microsoft.com/office/drawing/2014/main" xmlns=""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endParaRPr lang="en-US" dirty="0"/>
          </a:p>
        </p:txBody>
      </p:sp>
      <p:sp>
        <p:nvSpPr>
          <p:cNvPr id="29" name="Text Placeholder 11">
            <a:extLst>
              <a:ext uri="{FF2B5EF4-FFF2-40B4-BE49-F238E27FC236}">
                <a16:creationId xmlns:a16="http://schemas.microsoft.com/office/drawing/2014/main" xmlns=""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xmlns=""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xmlns=""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xmlns=""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xmlns=""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xmlns=""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1">
            <a:extLst>
              <a:ext uri="{FF2B5EF4-FFF2-40B4-BE49-F238E27FC236}">
                <a16:creationId xmlns:a16="http://schemas.microsoft.com/office/drawing/2014/main" xmlns=""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3">
            <a:extLst>
              <a:ext uri="{FF2B5EF4-FFF2-40B4-BE49-F238E27FC236}">
                <a16:creationId xmlns:a16="http://schemas.microsoft.com/office/drawing/2014/main" xmlns=""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xmlns=""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xmlns=""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xmlns=""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xmlns="" id="{3A51CCCC-1589-401D-AE98-FC28716301EF}"/>
              </a:ext>
            </a:extLst>
          </p:cNvPr>
          <p:cNvSpPr>
            <a:spLocks noGrp="1"/>
          </p:cNvSpPr>
          <p:nvPr>
            <p:ph type="ftr" sz="quarter" idx="11"/>
          </p:nvPr>
        </p:nvSpPr>
        <p:spPr/>
        <p:txBody>
          <a:bodyPr/>
          <a:lstStyle/>
          <a:p>
            <a:r>
              <a:rPr lang="en-US"/>
              <a:t>Crypto: investing &amp; trading</a:t>
            </a:r>
            <a:endParaRPr lang="en-US" dirty="0"/>
          </a:p>
        </p:txBody>
      </p:sp>
      <p:sp>
        <p:nvSpPr>
          <p:cNvPr id="9" name="Slide Number Placeholder 8">
            <a:extLst>
              <a:ext uri="{FF2B5EF4-FFF2-40B4-BE49-F238E27FC236}">
                <a16:creationId xmlns:a16="http://schemas.microsoft.com/office/drawing/2014/main" xmlns=""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062460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xmlns=""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8" name="Freeform: Shape 17">
            <a:extLst>
              <a:ext uri="{FF2B5EF4-FFF2-40B4-BE49-F238E27FC236}">
                <a16:creationId xmlns:a16="http://schemas.microsoft.com/office/drawing/2014/main" xmlns=""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24">
            <a:extLst>
              <a:ext uri="{FF2B5EF4-FFF2-40B4-BE49-F238E27FC236}">
                <a16:creationId xmlns:a16="http://schemas.microsoft.com/office/drawing/2014/main" xmlns=""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xmlns=""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Freeform 29">
            <a:extLst>
              <a:ext uri="{FF2B5EF4-FFF2-40B4-BE49-F238E27FC236}">
                <a16:creationId xmlns:a16="http://schemas.microsoft.com/office/drawing/2014/main" xmlns=""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xmlns=""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xmlns=""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a:extLst>
              <a:ext uri="{FF2B5EF4-FFF2-40B4-BE49-F238E27FC236}">
                <a16:creationId xmlns:a16="http://schemas.microsoft.com/office/drawing/2014/main" xmlns=""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8" name="Footer Placeholder 7">
            <a:extLst>
              <a:ext uri="{FF2B5EF4-FFF2-40B4-BE49-F238E27FC236}">
                <a16:creationId xmlns:a16="http://schemas.microsoft.com/office/drawing/2014/main" xmlns="" id="{3A51CCCC-1589-401D-AE98-FC28716301EF}"/>
              </a:ext>
            </a:extLst>
          </p:cNvPr>
          <p:cNvSpPr>
            <a:spLocks noGrp="1"/>
          </p:cNvSpPr>
          <p:nvPr>
            <p:ph type="ftr" sz="quarter" idx="11"/>
          </p:nvPr>
        </p:nvSpPr>
        <p:spPr/>
        <p:txBody>
          <a:bodyPr/>
          <a:lstStyle/>
          <a:p>
            <a:r>
              <a:rPr lang="en-US"/>
              <a:t>Crypto: investing &amp; trading</a:t>
            </a:r>
            <a:endParaRPr lang="en-US" dirty="0"/>
          </a:p>
        </p:txBody>
      </p:sp>
      <p:cxnSp>
        <p:nvCxnSpPr>
          <p:cNvPr id="21" name="Straight Connector 20">
            <a:extLst>
              <a:ext uri="{FF2B5EF4-FFF2-40B4-BE49-F238E27FC236}">
                <a16:creationId xmlns:a16="http://schemas.microsoft.com/office/drawing/2014/main" xmlns=""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xmlns=""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xmlns=""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03394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xmlns=""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xmlns=""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5" name="Oval 4">
            <a:extLst>
              <a:ext uri="{FF2B5EF4-FFF2-40B4-BE49-F238E27FC236}">
                <a16:creationId xmlns:a16="http://schemas.microsoft.com/office/drawing/2014/main" xmlns=""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xmlns=""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xmlns=""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xmlns=""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 Placeholder 11">
            <a:extLst>
              <a:ext uri="{FF2B5EF4-FFF2-40B4-BE49-F238E27FC236}">
                <a16:creationId xmlns:a16="http://schemas.microsoft.com/office/drawing/2014/main" xmlns=""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xmlns=""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xmlns=""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xmlns=""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xmlns=""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xmlns=""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xmlns=""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xmlns=""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xmlns=""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xmlns=""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xmlns=""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xmlns=""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endParaRPr lang="en-US" dirty="0"/>
          </a:p>
        </p:txBody>
      </p:sp>
    </p:spTree>
    <p:extLst>
      <p:ext uri="{BB962C8B-B14F-4D97-AF65-F5344CB8AC3E}">
        <p14:creationId xmlns:p14="http://schemas.microsoft.com/office/powerpoint/2010/main" val="3784201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xmlns=""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xmlns=""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xmlns=""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xmlns=""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xmlns=""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xmlns=""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xmlns=""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xmlns=""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xmlns="" id="{6DC6BE5A-F1AC-214F-638D-C6C21E51BFB2}"/>
              </a:ext>
            </a:extLst>
          </p:cNvPr>
          <p:cNvSpPr>
            <a:spLocks noGrp="1"/>
          </p:cNvSpPr>
          <p:nvPr>
            <p:ph type="ftr" sz="quarter" idx="10"/>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xmlns=""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Text Placeholder 11">
            <a:extLst>
              <a:ext uri="{FF2B5EF4-FFF2-40B4-BE49-F238E27FC236}">
                <a16:creationId xmlns:a16="http://schemas.microsoft.com/office/drawing/2014/main" xmlns=""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xmlns=""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xmlns=""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xmlns=""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xmlns=""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xmlns=""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xmlns=""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xmlns=""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xmlns=""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2" name="Picture Placeholder 20">
            <a:extLst>
              <a:ext uri="{FF2B5EF4-FFF2-40B4-BE49-F238E27FC236}">
                <a16:creationId xmlns:a16="http://schemas.microsoft.com/office/drawing/2014/main" xmlns=""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3" name="Picture Placeholder 20">
            <a:extLst>
              <a:ext uri="{FF2B5EF4-FFF2-40B4-BE49-F238E27FC236}">
                <a16:creationId xmlns:a16="http://schemas.microsoft.com/office/drawing/2014/main" xmlns=""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4" name="Picture Placeholder 20">
            <a:extLst>
              <a:ext uri="{FF2B5EF4-FFF2-40B4-BE49-F238E27FC236}">
                <a16:creationId xmlns:a16="http://schemas.microsoft.com/office/drawing/2014/main" xmlns=""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29" name="Picture Placeholder 20">
            <a:extLst>
              <a:ext uri="{FF2B5EF4-FFF2-40B4-BE49-F238E27FC236}">
                <a16:creationId xmlns:a16="http://schemas.microsoft.com/office/drawing/2014/main" xmlns=""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0" name="Picture Placeholder 20">
            <a:extLst>
              <a:ext uri="{FF2B5EF4-FFF2-40B4-BE49-F238E27FC236}">
                <a16:creationId xmlns:a16="http://schemas.microsoft.com/office/drawing/2014/main" xmlns=""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1" name="Picture Placeholder 20">
            <a:extLst>
              <a:ext uri="{FF2B5EF4-FFF2-40B4-BE49-F238E27FC236}">
                <a16:creationId xmlns:a16="http://schemas.microsoft.com/office/drawing/2014/main" xmlns=""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2" name="Picture Placeholder 20">
            <a:extLst>
              <a:ext uri="{FF2B5EF4-FFF2-40B4-BE49-F238E27FC236}">
                <a16:creationId xmlns:a16="http://schemas.microsoft.com/office/drawing/2014/main" xmlns=""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endParaRPr lang="en-US" dirty="0"/>
          </a:p>
        </p:txBody>
      </p:sp>
      <p:sp>
        <p:nvSpPr>
          <p:cNvPr id="33" name="Text Placeholder 11">
            <a:extLst>
              <a:ext uri="{FF2B5EF4-FFF2-40B4-BE49-F238E27FC236}">
                <a16:creationId xmlns:a16="http://schemas.microsoft.com/office/drawing/2014/main" xmlns=""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xmlns=""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xmlns=""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xmlns=""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xmlns=""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xmlns=""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xmlns=""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xmlns=""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xmlns=""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9" name="Freeform: Shape 18">
            <a:extLst>
              <a:ext uri="{FF2B5EF4-FFF2-40B4-BE49-F238E27FC236}">
                <a16:creationId xmlns:a16="http://schemas.microsoft.com/office/drawing/2014/main" xmlns=""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4" name="Freeform: Shape 13">
            <a:extLst>
              <a:ext uri="{FF2B5EF4-FFF2-40B4-BE49-F238E27FC236}">
                <a16:creationId xmlns:a16="http://schemas.microsoft.com/office/drawing/2014/main" xmlns=""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2" name="Freeform: Shape 11">
            <a:extLst>
              <a:ext uri="{FF2B5EF4-FFF2-40B4-BE49-F238E27FC236}">
                <a16:creationId xmlns:a16="http://schemas.microsoft.com/office/drawing/2014/main" xmlns=""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16" name="glass card">
            <a:extLst>
              <a:ext uri="{FF2B5EF4-FFF2-40B4-BE49-F238E27FC236}">
                <a16:creationId xmlns:a16="http://schemas.microsoft.com/office/drawing/2014/main" xmlns=""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8" name="Straight Connector 27">
            <a:extLst>
              <a:ext uri="{FF2B5EF4-FFF2-40B4-BE49-F238E27FC236}">
                <a16:creationId xmlns:a16="http://schemas.microsoft.com/office/drawing/2014/main" xmlns=""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xmlns=""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
        <p:nvSpPr>
          <p:cNvPr id="29" name="Freeform: Shape 28">
            <a:extLst>
              <a:ext uri="{FF2B5EF4-FFF2-40B4-BE49-F238E27FC236}">
                <a16:creationId xmlns:a16="http://schemas.microsoft.com/office/drawing/2014/main" xmlns=""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xmlns=""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16">
            <a:extLst>
              <a:ext uri="{FF2B5EF4-FFF2-40B4-BE49-F238E27FC236}">
                <a16:creationId xmlns:a16="http://schemas.microsoft.com/office/drawing/2014/main" xmlns=""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7">
            <a:extLst>
              <a:ext uri="{FF2B5EF4-FFF2-40B4-BE49-F238E27FC236}">
                <a16:creationId xmlns:a16="http://schemas.microsoft.com/office/drawing/2014/main" xmlns=""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0" name="Straight Connector 9">
            <a:extLst>
              <a:ext uri="{FF2B5EF4-FFF2-40B4-BE49-F238E27FC236}">
                <a16:creationId xmlns:a16="http://schemas.microsoft.com/office/drawing/2014/main" xmlns=""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xmlns="" id="{BE7B5E76-E101-4994-92F5-1F540EB16AB0}"/>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xmlns=""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xmlns="" id="{96356206-85FD-45F5-A1F7-128DB34C860F}"/>
              </a:ext>
            </a:extLst>
          </p:cNvPr>
          <p:cNvSpPr>
            <a:spLocks noGrp="1"/>
          </p:cNvSpPr>
          <p:nvPr>
            <p:ph type="ftr" sz="quarter" idx="11"/>
          </p:nvPr>
        </p:nvSpPr>
        <p:spPr/>
        <p:txBody>
          <a:bodyPr/>
          <a:lstStyle/>
          <a:p>
            <a:r>
              <a:rPr lang="en-US"/>
              <a:t>Crypto: investing &amp; trading</a:t>
            </a:r>
            <a:endParaRPr lang="en-US" dirty="0"/>
          </a:p>
        </p:txBody>
      </p:sp>
      <p:sp>
        <p:nvSpPr>
          <p:cNvPr id="5" name="Slide Number Placeholder 4">
            <a:extLst>
              <a:ext uri="{FF2B5EF4-FFF2-40B4-BE49-F238E27FC236}">
                <a16:creationId xmlns:a16="http://schemas.microsoft.com/office/drawing/2014/main" xmlns=""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xmlns="" id="{7AC6CA6E-C1AB-4B24-80C7-A4B12640BE6F}"/>
              </a:ext>
            </a:extLst>
          </p:cNvPr>
          <p:cNvSpPr>
            <a:spLocks noGrp="1"/>
          </p:cNvSpPr>
          <p:nvPr>
            <p:ph type="ftr" sz="quarter" idx="11"/>
          </p:nvPr>
        </p:nvSpPr>
        <p:spPr/>
        <p:txBody>
          <a:bodyPr/>
          <a:lstStyle/>
          <a:p>
            <a:r>
              <a:rPr lang="en-US"/>
              <a:t>Crypto: investing &amp; trading</a:t>
            </a:r>
            <a:endParaRPr lang="en-US" dirty="0"/>
          </a:p>
        </p:txBody>
      </p:sp>
      <p:sp>
        <p:nvSpPr>
          <p:cNvPr id="4" name="Slide Number Placeholder 3">
            <a:extLst>
              <a:ext uri="{FF2B5EF4-FFF2-40B4-BE49-F238E27FC236}">
                <a16:creationId xmlns:a16="http://schemas.microsoft.com/office/drawing/2014/main" xmlns=""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xmlns="" id="{F5AEF53B-C85C-47DB-ADE4-C1D9FA682945}"/>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xmlns=""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xmlns=""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xmlns="" id="{08DA4DA3-10C7-48A6-9B15-38222B8CAD42}"/>
              </a:ext>
            </a:extLst>
          </p:cNvPr>
          <p:cNvSpPr>
            <a:spLocks noGrp="1"/>
          </p:cNvSpPr>
          <p:nvPr>
            <p:ph type="ftr" sz="quarter" idx="11"/>
          </p:nvPr>
        </p:nvSpPr>
        <p:spPr/>
        <p:txBody>
          <a:bodyPr/>
          <a:lstStyle/>
          <a:p>
            <a:r>
              <a:rPr lang="en-US"/>
              <a:t>Crypto: investing &amp; trading</a:t>
            </a:r>
            <a:endParaRPr lang="en-US" dirty="0"/>
          </a:p>
        </p:txBody>
      </p:sp>
      <p:sp>
        <p:nvSpPr>
          <p:cNvPr id="7" name="Slide Number Placeholder 6">
            <a:extLst>
              <a:ext uri="{FF2B5EF4-FFF2-40B4-BE49-F238E27FC236}">
                <a16:creationId xmlns:a16="http://schemas.microsoft.com/office/drawing/2014/main" xmlns=""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xmlns=""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dirty="0"/>
          </a:p>
        </p:txBody>
      </p:sp>
      <p:sp>
        <p:nvSpPr>
          <p:cNvPr id="5" name="Footer Placeholder 4">
            <a:extLst>
              <a:ext uri="{FF2B5EF4-FFF2-40B4-BE49-F238E27FC236}">
                <a16:creationId xmlns:a16="http://schemas.microsoft.com/office/drawing/2014/main" xmlns=""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endParaRPr lang="en-US" dirty="0"/>
          </a:p>
        </p:txBody>
      </p:sp>
      <p:cxnSp>
        <p:nvCxnSpPr>
          <p:cNvPr id="7" name="Straight Connector 6">
            <a:extLst>
              <a:ext uri="{FF2B5EF4-FFF2-40B4-BE49-F238E27FC236}">
                <a16:creationId xmlns:a16="http://schemas.microsoft.com/office/drawing/2014/main" xmlns=""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70" r:id="rId7"/>
    <p:sldLayoutId id="2147483669" r:id="rId8"/>
    <p:sldLayoutId id="2147483653" r:id="rId9"/>
    <p:sldLayoutId id="2147483665" r:id="rId10"/>
    <p:sldLayoutId id="2147483666" r:id="rId11"/>
    <p:sldLayoutId id="2147483667" r:id="rId12"/>
    <p:sldLayoutId id="2147483668" r:id="rId13"/>
    <p:sldLayoutId id="2147483651"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870DB4-0446-EF22-E8E0-3A5B83923AC0}"/>
              </a:ext>
            </a:extLst>
          </p:cNvPr>
          <p:cNvSpPr>
            <a:spLocks noGrp="1"/>
          </p:cNvSpPr>
          <p:nvPr>
            <p:ph type="ctrTitle"/>
          </p:nvPr>
        </p:nvSpPr>
        <p:spPr>
          <a:xfrm>
            <a:off x="1097460" y="3098258"/>
            <a:ext cx="9921240" cy="758952"/>
          </a:xfrm>
        </p:spPr>
        <p:txBody>
          <a:bodyPr/>
          <a:lstStyle/>
          <a:p>
            <a:r>
              <a:rPr lang="en-US" sz="4000" dirty="0"/>
              <a:t>AI-Based Student Dropout Prediction &amp; </a:t>
            </a:r>
            <a:r>
              <a:rPr lang="en-US" sz="4000" dirty="0" smtClean="0"/>
              <a:t>Counseling </a:t>
            </a:r>
            <a:r>
              <a:rPr lang="en-US" sz="4000" dirty="0"/>
              <a:t>System</a:t>
            </a:r>
            <a:endParaRPr lang="en-US" sz="4000" dirty="0"/>
          </a:p>
        </p:txBody>
      </p:sp>
      <p:sp>
        <p:nvSpPr>
          <p:cNvPr id="3" name="Subtitle 2">
            <a:extLst>
              <a:ext uri="{FF2B5EF4-FFF2-40B4-BE49-F238E27FC236}">
                <a16:creationId xmlns:a16="http://schemas.microsoft.com/office/drawing/2014/main" xmlns="" id="{696329B1-2D04-0F3A-1081-C5117D8CE122}"/>
              </a:ext>
            </a:extLst>
          </p:cNvPr>
          <p:cNvSpPr>
            <a:spLocks noGrp="1"/>
          </p:cNvSpPr>
          <p:nvPr>
            <p:ph type="subTitle" idx="1"/>
          </p:nvPr>
        </p:nvSpPr>
        <p:spPr/>
        <p:txBody>
          <a:bodyPr/>
          <a:lstStyle/>
          <a:p>
            <a:endParaRPr lang="en-US" dirty="0"/>
          </a:p>
          <a:p>
            <a:endParaRPr lang="en-US" dirty="0"/>
          </a:p>
        </p:txBody>
      </p:sp>
      <p:sp>
        <p:nvSpPr>
          <p:cNvPr id="7" name="TextBox 6">
            <a:extLst>
              <a:ext uri="{FF2B5EF4-FFF2-40B4-BE49-F238E27FC236}">
                <a16:creationId xmlns:a16="http://schemas.microsoft.com/office/drawing/2014/main" xmlns="" id="{B5DE6866-765C-C697-B1BC-49EEA2358D46}"/>
              </a:ext>
            </a:extLst>
          </p:cNvPr>
          <p:cNvSpPr txBox="1"/>
          <p:nvPr/>
        </p:nvSpPr>
        <p:spPr>
          <a:xfrm>
            <a:off x="304083" y="623281"/>
            <a:ext cx="11618259" cy="954107"/>
          </a:xfrm>
          <a:prstGeom prst="rect">
            <a:avLst/>
          </a:prstGeom>
          <a:noFill/>
        </p:spPr>
        <p:txBody>
          <a:bodyPr wrap="square" rtlCol="0">
            <a:spAutoFit/>
          </a:bodyPr>
          <a:lstStyle/>
          <a:p>
            <a:pPr algn="ctr"/>
            <a:r>
              <a:rPr lang="en-US" sz="3600" dirty="0">
                <a:solidFill>
                  <a:schemeClr val="bg1"/>
                </a:solidFill>
                <a:latin typeface="Arial" panose="020B0604020202020204" pitchFamily="34" charset="0"/>
                <a:cs typeface="Arial" panose="020B0604020202020204" pitchFamily="34" charset="0"/>
              </a:rPr>
              <a:t>IIMT COLLEGE OF ENGINEERING </a:t>
            </a:r>
          </a:p>
          <a:p>
            <a:pPr algn="ctr"/>
            <a:r>
              <a:rPr lang="en-US" sz="2000" dirty="0">
                <a:solidFill>
                  <a:schemeClr val="bg1"/>
                </a:solidFill>
                <a:latin typeface="Arial" panose="020B0604020202020204" pitchFamily="34" charset="0"/>
                <a:cs typeface="Arial" panose="020B0604020202020204" pitchFamily="34" charset="0"/>
              </a:rPr>
              <a:t>Knowledge Park </a:t>
            </a:r>
            <a:r>
              <a:rPr lang="en-US" sz="2000" dirty="0" smtClean="0">
                <a:solidFill>
                  <a:schemeClr val="bg1"/>
                </a:solidFill>
                <a:latin typeface="Arial" panose="020B0604020202020204" pitchFamily="34" charset="0"/>
                <a:cs typeface="Arial" panose="020B0604020202020204" pitchFamily="34" charset="0"/>
              </a:rPr>
              <a:t>III , Greater </a:t>
            </a:r>
            <a:r>
              <a:rPr lang="en-US" sz="2000" dirty="0">
                <a:solidFill>
                  <a:schemeClr val="bg1"/>
                </a:solidFill>
                <a:latin typeface="Arial" panose="020B0604020202020204" pitchFamily="34" charset="0"/>
                <a:cs typeface="Arial" panose="020B0604020202020204" pitchFamily="34" charset="0"/>
              </a:rPr>
              <a:t>Noida</a:t>
            </a:r>
          </a:p>
        </p:txBody>
      </p:sp>
      <p:sp>
        <p:nvSpPr>
          <p:cNvPr id="8" name="TextBox 7">
            <a:extLst>
              <a:ext uri="{FF2B5EF4-FFF2-40B4-BE49-F238E27FC236}">
                <a16:creationId xmlns:a16="http://schemas.microsoft.com/office/drawing/2014/main" xmlns="" id="{3B6D8977-3C24-1C1F-43D1-7D4141D1259D}"/>
              </a:ext>
            </a:extLst>
          </p:cNvPr>
          <p:cNvSpPr txBox="1"/>
          <p:nvPr/>
        </p:nvSpPr>
        <p:spPr>
          <a:xfrm>
            <a:off x="3667193" y="4419891"/>
            <a:ext cx="5002305" cy="1200329"/>
          </a:xfrm>
          <a:prstGeom prst="rect">
            <a:avLst/>
          </a:prstGeom>
          <a:noFill/>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TEAM MEMBERS</a:t>
            </a:r>
          </a:p>
          <a:p>
            <a:pPr algn="ctr"/>
            <a:r>
              <a:rPr lang="en-US" dirty="0" err="1" smtClean="0">
                <a:solidFill>
                  <a:schemeClr val="bg1"/>
                </a:solidFill>
                <a:latin typeface="Arial" panose="020B0604020202020204" pitchFamily="34" charset="0"/>
                <a:cs typeface="Arial" panose="020B0604020202020204" pitchFamily="34" charset="0"/>
              </a:rPr>
              <a:t>Chandrakant</a:t>
            </a:r>
            <a:r>
              <a:rPr lang="en-US" dirty="0" smtClean="0">
                <a:solidFill>
                  <a:schemeClr val="bg1"/>
                </a:solidFill>
                <a:latin typeface="Arial" panose="020B0604020202020204" pitchFamily="34" charset="0"/>
                <a:cs typeface="Arial" panose="020B0604020202020204" pitchFamily="34" charset="0"/>
              </a:rPr>
              <a:t> Singh</a:t>
            </a:r>
            <a:r>
              <a:rPr lang="en-US" dirty="0" smtClean="0">
                <a:solidFill>
                  <a:schemeClr val="bg1"/>
                </a:solidFill>
                <a:latin typeface="Arial" panose="020B0604020202020204" pitchFamily="34" charset="0"/>
                <a:cs typeface="Arial" panose="020B0604020202020204" pitchFamily="34" charset="0"/>
              </a:rPr>
              <a:t> </a:t>
            </a:r>
            <a:r>
              <a:rPr lang="en-US" dirty="0">
                <a:solidFill>
                  <a:schemeClr val="bg1"/>
                </a:solidFill>
                <a:latin typeface="Arial" panose="020B0604020202020204" pitchFamily="34" charset="0"/>
                <a:cs typeface="Arial" panose="020B0604020202020204" pitchFamily="34" charset="0"/>
              </a:rPr>
              <a:t>(</a:t>
            </a:r>
            <a:r>
              <a:rPr lang="en-US" dirty="0" smtClean="0">
                <a:solidFill>
                  <a:schemeClr val="bg1"/>
                </a:solidFill>
                <a:latin typeface="Arial" panose="020B0604020202020204" pitchFamily="34" charset="0"/>
                <a:cs typeface="Arial" panose="020B0604020202020204" pitchFamily="34" charset="0"/>
              </a:rPr>
              <a:t>2302161520024)</a:t>
            </a:r>
            <a:endParaRPr lang="en-US" dirty="0">
              <a:solidFill>
                <a:schemeClr val="bg1"/>
              </a:solidFill>
              <a:latin typeface="Arial" panose="020B0604020202020204" pitchFamily="34" charset="0"/>
              <a:cs typeface="Arial" panose="020B0604020202020204" pitchFamily="34" charset="0"/>
            </a:endParaRPr>
          </a:p>
          <a:p>
            <a:pPr algn="ctr"/>
            <a:r>
              <a:rPr lang="en-US" dirty="0" smtClean="0">
                <a:solidFill>
                  <a:schemeClr val="bg1"/>
                </a:solidFill>
                <a:latin typeface="Arial" panose="020B0604020202020204" pitchFamily="34" charset="0"/>
                <a:cs typeface="Arial" panose="020B0604020202020204" pitchFamily="34" charset="0"/>
              </a:rPr>
              <a:t>Harsh </a:t>
            </a:r>
            <a:r>
              <a:rPr lang="en-US" dirty="0" err="1" smtClean="0">
                <a:solidFill>
                  <a:schemeClr val="bg1"/>
                </a:solidFill>
                <a:latin typeface="Arial" panose="020B0604020202020204" pitchFamily="34" charset="0"/>
                <a:cs typeface="Arial" panose="020B0604020202020204" pitchFamily="34" charset="0"/>
              </a:rPr>
              <a:t>Lathwal</a:t>
            </a:r>
            <a:r>
              <a:rPr lang="en-US" dirty="0" smtClean="0">
                <a:solidFill>
                  <a:schemeClr val="bg1"/>
                </a:solidFill>
                <a:latin typeface="Arial" panose="020B0604020202020204" pitchFamily="34" charset="0"/>
                <a:cs typeface="Arial" panose="020B0604020202020204" pitchFamily="34" charset="0"/>
              </a:rPr>
              <a:t> </a:t>
            </a:r>
            <a:r>
              <a:rPr lang="en-US" dirty="0">
                <a:solidFill>
                  <a:schemeClr val="bg1"/>
                </a:solidFill>
                <a:latin typeface="Arial" panose="020B0604020202020204" pitchFamily="34" charset="0"/>
                <a:cs typeface="Arial" panose="020B0604020202020204" pitchFamily="34" charset="0"/>
              </a:rPr>
              <a:t>(2302161520036)</a:t>
            </a:r>
          </a:p>
          <a:p>
            <a:pPr algn="ctr"/>
            <a:r>
              <a:rPr lang="en-US" dirty="0" err="1" smtClean="0">
                <a:solidFill>
                  <a:schemeClr val="bg1"/>
                </a:solidFill>
                <a:latin typeface="Arial" panose="020B0604020202020204" pitchFamily="34" charset="0"/>
                <a:cs typeface="Arial" panose="020B0604020202020204" pitchFamily="34" charset="0"/>
              </a:rPr>
              <a:t>Harshit</a:t>
            </a:r>
            <a:r>
              <a:rPr lang="en-US" dirty="0" smtClean="0">
                <a:solidFill>
                  <a:schemeClr val="bg1"/>
                </a:solidFill>
                <a:latin typeface="Arial" panose="020B0604020202020204" pitchFamily="34" charset="0"/>
                <a:cs typeface="Arial" panose="020B0604020202020204" pitchFamily="34" charset="0"/>
              </a:rPr>
              <a:t> </a:t>
            </a:r>
            <a:r>
              <a:rPr lang="en-US" dirty="0" err="1" smtClean="0">
                <a:solidFill>
                  <a:schemeClr val="bg1"/>
                </a:solidFill>
                <a:latin typeface="Arial" panose="020B0604020202020204" pitchFamily="34" charset="0"/>
                <a:cs typeface="Arial" panose="020B0604020202020204" pitchFamily="34" charset="0"/>
              </a:rPr>
              <a:t>Maurya</a:t>
            </a:r>
            <a:r>
              <a:rPr lang="en-US" dirty="0" smtClean="0">
                <a:solidFill>
                  <a:schemeClr val="bg1"/>
                </a:solidFill>
                <a:latin typeface="Arial" panose="020B0604020202020204" pitchFamily="34" charset="0"/>
                <a:cs typeface="Arial" panose="020B0604020202020204" pitchFamily="34" charset="0"/>
              </a:rPr>
              <a:t>(2302161520042</a:t>
            </a:r>
            <a:r>
              <a:rPr lang="en-US" dirty="0">
                <a:solidFill>
                  <a:schemeClr val="bg1"/>
                </a:solidFill>
                <a:latin typeface="Arial" panose="020B0604020202020204" pitchFamily="34" charset="0"/>
                <a:cs typeface="Arial" panose="020B0604020202020204" pitchFamily="34" charset="0"/>
              </a:rPr>
              <a:t>)</a:t>
            </a:r>
          </a:p>
        </p:txBody>
      </p:sp>
      <p:sp>
        <p:nvSpPr>
          <p:cNvPr id="9" name="TextBox 8">
            <a:extLst>
              <a:ext uri="{FF2B5EF4-FFF2-40B4-BE49-F238E27FC236}">
                <a16:creationId xmlns:a16="http://schemas.microsoft.com/office/drawing/2014/main" xmlns="" id="{3703F324-4667-84EC-69C2-84DD3965AADF}"/>
              </a:ext>
            </a:extLst>
          </p:cNvPr>
          <p:cNvSpPr txBox="1"/>
          <p:nvPr/>
        </p:nvSpPr>
        <p:spPr>
          <a:xfrm>
            <a:off x="1097460" y="1703090"/>
            <a:ext cx="10031506" cy="369332"/>
          </a:xfrm>
          <a:prstGeom prst="rect">
            <a:avLst/>
          </a:prstGeom>
          <a:noFill/>
        </p:spPr>
        <p:txBody>
          <a:bodyPr wrap="square" rtlCol="0">
            <a:spAutoFit/>
          </a:bodyPr>
          <a:lstStyle/>
          <a:p>
            <a:pPr algn="ctr"/>
            <a:r>
              <a:rPr lang="en-US" dirty="0">
                <a:solidFill>
                  <a:schemeClr val="bg1"/>
                </a:solidFill>
              </a:rPr>
              <a:t>(Department of Computer Science and Engineering-AI)</a:t>
            </a:r>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07F7E09-6A9E-9FCC-7867-895F21ABE716}"/>
              </a:ext>
            </a:extLst>
          </p:cNvPr>
          <p:cNvSpPr>
            <a:spLocks noGrp="1"/>
          </p:cNvSpPr>
          <p:nvPr>
            <p:ph type="title"/>
          </p:nvPr>
        </p:nvSpPr>
        <p:spPr/>
        <p:txBody>
          <a:bodyPr>
            <a:normAutofit/>
          </a:bodyPr>
          <a:lstStyle/>
          <a:p>
            <a:r>
              <a:rPr lang="en-US" sz="4000" b="1" spc="600" dirty="0">
                <a:ln w="28575">
                  <a:noFill/>
                  <a:prstDash val="solid"/>
                </a:ln>
                <a:solidFill>
                  <a:schemeClr val="bg1"/>
                </a:solidFill>
                <a:latin typeface="Tw Cen MT" panose="020B0602020104020603" pitchFamily="34" charset="77"/>
              </a:rPr>
              <a:t>CONTENTS</a:t>
            </a:r>
            <a:endParaRPr lang="en-US" dirty="0"/>
          </a:p>
        </p:txBody>
      </p:sp>
      <p:sp>
        <p:nvSpPr>
          <p:cNvPr id="5" name="Slide Number Placeholder 4">
            <a:extLst>
              <a:ext uri="{FF2B5EF4-FFF2-40B4-BE49-F238E27FC236}">
                <a16:creationId xmlns:a16="http://schemas.microsoft.com/office/drawing/2014/main" xmlns="" id="{9157728F-9EA1-A705-8E4D-B7823E4F4C26}"/>
              </a:ext>
            </a:extLst>
          </p:cNvPr>
          <p:cNvSpPr>
            <a:spLocks noGrp="1"/>
          </p:cNvSpPr>
          <p:nvPr>
            <p:ph type="sldNum" sz="quarter" idx="11"/>
          </p:nvPr>
        </p:nvSpPr>
        <p:spPr/>
        <p:txBody>
          <a:bodyPr/>
          <a:lstStyle/>
          <a:p>
            <a:fld id="{294A09A9-5501-47C1-A89A-A340965A2BE2}" type="slidenum">
              <a:rPr lang="en-US" smtClean="0"/>
              <a:pPr/>
              <a:t>2</a:t>
            </a:fld>
            <a:endParaRPr lang="en-US" dirty="0"/>
          </a:p>
        </p:txBody>
      </p:sp>
      <p:sp>
        <p:nvSpPr>
          <p:cNvPr id="3" name="Content Placeholder 2">
            <a:extLst>
              <a:ext uri="{FF2B5EF4-FFF2-40B4-BE49-F238E27FC236}">
                <a16:creationId xmlns:a16="http://schemas.microsoft.com/office/drawing/2014/main" xmlns="" id="{199158D4-7B61-0A48-E33F-792278D05724}"/>
              </a:ext>
            </a:extLst>
          </p:cNvPr>
          <p:cNvSpPr>
            <a:spLocks noGrp="1"/>
          </p:cNvSpPr>
          <p:nvPr>
            <p:ph idx="1"/>
          </p:nvPr>
        </p:nvSpPr>
        <p:spPr>
          <a:xfrm>
            <a:off x="1522545" y="1939893"/>
            <a:ext cx="6422136" cy="3282696"/>
          </a:xfrm>
        </p:spPr>
        <p:txBody>
          <a:bodyPr/>
          <a:lstStyle/>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Introduction</a:t>
            </a:r>
          </a:p>
          <a:p>
            <a:pPr marL="342900" indent="-342900" algn="l">
              <a:lnSpc>
                <a:spcPct val="150000"/>
              </a:lnSpc>
              <a:buClr>
                <a:schemeClr val="accent6"/>
              </a:buClr>
              <a:buFont typeface="Courier New" panose="02070309020205020404" pitchFamily="49" charset="0"/>
              <a:buChar char="o"/>
            </a:pPr>
            <a:r>
              <a:rPr lang="en-US" dirty="0">
                <a:latin typeface="Segoe UI Light" panose="020B0502040204020203" pitchFamily="34" charset="0"/>
                <a:cs typeface="Segoe UI Light" panose="020B0502040204020203" pitchFamily="34" charset="0"/>
              </a:rPr>
              <a:t>Objectives</a:t>
            </a:r>
            <a:endParaRPr lang="en-US"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Planning of </a:t>
            </a:r>
            <a:r>
              <a:rPr lang="en-US" dirty="0" smtClean="0">
                <a:solidFill>
                  <a:schemeClr val="bg1"/>
                </a:solidFill>
                <a:latin typeface="Segoe UI Light" panose="020B0502040204020203" pitchFamily="34" charset="0"/>
                <a:cs typeface="Segoe UI Light" panose="020B0502040204020203" pitchFamily="34" charset="0"/>
              </a:rPr>
              <a:t>work</a:t>
            </a:r>
          </a:p>
          <a:p>
            <a:pPr marL="342900" indent="-342900" algn="l">
              <a:lnSpc>
                <a:spcPct val="150000"/>
              </a:lnSpc>
              <a:buClr>
                <a:schemeClr val="accent6"/>
              </a:buClr>
              <a:buFont typeface="Courier New" panose="02070309020205020404" pitchFamily="49" charset="0"/>
              <a:buChar char="o"/>
            </a:pPr>
            <a:r>
              <a:rPr lang="en-US" dirty="0" smtClean="0">
                <a:latin typeface="Segoe UI Light" panose="020B0502040204020203" pitchFamily="34" charset="0"/>
                <a:cs typeface="Segoe UI Light" panose="020B0502040204020203" pitchFamily="34" charset="0"/>
              </a:rPr>
              <a:t>Methodology </a:t>
            </a:r>
            <a:endParaRPr lang="en-US"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Snapshots of </a:t>
            </a:r>
            <a:r>
              <a:rPr lang="en-US" dirty="0" smtClean="0">
                <a:solidFill>
                  <a:schemeClr val="bg1"/>
                </a:solidFill>
                <a:latin typeface="Segoe UI Light" panose="020B0502040204020203" pitchFamily="34" charset="0"/>
                <a:cs typeface="Segoe UI Light" panose="020B0502040204020203" pitchFamily="34" charset="0"/>
              </a:rPr>
              <a:t>Work</a:t>
            </a:r>
          </a:p>
          <a:p>
            <a:pPr marL="342900" indent="-342900" algn="l">
              <a:lnSpc>
                <a:spcPct val="150000"/>
              </a:lnSpc>
              <a:buClr>
                <a:schemeClr val="accent6"/>
              </a:buClr>
              <a:buFont typeface="Courier New" panose="02070309020205020404" pitchFamily="49" charset="0"/>
              <a:buChar char="o"/>
            </a:pPr>
            <a:r>
              <a:rPr lang="en-US" dirty="0" smtClean="0">
                <a:latin typeface="Segoe UI Light" panose="020B0502040204020203" pitchFamily="34" charset="0"/>
                <a:cs typeface="Segoe UI Light" panose="020B0502040204020203" pitchFamily="34" charset="0"/>
              </a:rPr>
              <a:t>Future scope of the Project</a:t>
            </a:r>
            <a:endParaRPr lang="en-US" dirty="0">
              <a:solidFill>
                <a:schemeClr val="bg1"/>
              </a:solidFill>
              <a:latin typeface="Segoe UI Light" panose="020B0502040204020203" pitchFamily="34" charset="0"/>
              <a:cs typeface="Segoe UI Light" panose="020B0502040204020203" pitchFamily="34" charset="0"/>
            </a:endParaRPr>
          </a:p>
          <a:p>
            <a:pPr marL="342900" indent="-342900" algn="l">
              <a:lnSpc>
                <a:spcPct val="150000"/>
              </a:lnSpc>
              <a:buClr>
                <a:schemeClr val="accent6"/>
              </a:buClr>
              <a:buFont typeface="Courier New" panose="02070309020205020404" pitchFamily="49" charset="0"/>
              <a:buChar char="o"/>
            </a:pPr>
            <a:r>
              <a:rPr lang="en-US" dirty="0">
                <a:solidFill>
                  <a:schemeClr val="bg1"/>
                </a:solidFill>
                <a:latin typeface="Segoe UI Light" panose="020B0502040204020203" pitchFamily="34" charset="0"/>
                <a:cs typeface="Segoe UI Light" panose="020B0502040204020203" pitchFamily="34" charset="0"/>
              </a:rPr>
              <a:t>References</a:t>
            </a:r>
          </a:p>
        </p:txBody>
      </p:sp>
    </p:spTree>
    <p:extLst>
      <p:ext uri="{BB962C8B-B14F-4D97-AF65-F5344CB8AC3E}">
        <p14:creationId xmlns:p14="http://schemas.microsoft.com/office/powerpoint/2010/main" val="354802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1F0E99-07CC-9576-AFD7-C52151AD0EA3}"/>
              </a:ext>
            </a:extLst>
          </p:cNvPr>
          <p:cNvSpPr>
            <a:spLocks noGrp="1"/>
          </p:cNvSpPr>
          <p:nvPr>
            <p:ph type="ctrTitle"/>
          </p:nvPr>
        </p:nvSpPr>
        <p:spPr/>
        <p:txBody>
          <a:bodyPr/>
          <a:lstStyle/>
          <a:p>
            <a:r>
              <a:rPr lang="en-US" dirty="0"/>
              <a:t>INTRODUCTION</a:t>
            </a:r>
          </a:p>
        </p:txBody>
      </p:sp>
      <p:sp>
        <p:nvSpPr>
          <p:cNvPr id="3" name="Subtitle 2">
            <a:extLst>
              <a:ext uri="{FF2B5EF4-FFF2-40B4-BE49-F238E27FC236}">
                <a16:creationId xmlns:a16="http://schemas.microsoft.com/office/drawing/2014/main" xmlns="" id="{5A82A8B0-333F-633E-3FA7-D38DBFB10971}"/>
              </a:ext>
            </a:extLst>
          </p:cNvPr>
          <p:cNvSpPr>
            <a:spLocks noGrp="1"/>
          </p:cNvSpPr>
          <p:nvPr>
            <p:ph type="subTitle" idx="1"/>
          </p:nvPr>
        </p:nvSpPr>
        <p:spPr>
          <a:xfrm>
            <a:off x="2228088" y="3630168"/>
            <a:ext cx="7735824" cy="1645919"/>
          </a:xfrm>
        </p:spPr>
        <p:txBody>
          <a:bodyPr/>
          <a:lstStyle/>
          <a:p>
            <a:r>
              <a:rPr lang="en-US" dirty="0"/>
              <a:t>The </a:t>
            </a:r>
            <a:r>
              <a:rPr lang="en-US" dirty="0" smtClean="0"/>
              <a:t>idea </a:t>
            </a:r>
            <a:r>
              <a:rPr lang="en-US" dirty="0"/>
              <a:t>of the project is to predict the dropout risk of students using academic, personal, and behavioral factors and provide proper counseling recommendations to reduce their dropout possibility. The system analyzes student performance data and predicts whether the student is at </a:t>
            </a:r>
            <a:r>
              <a:rPr lang="en-US" b="1" dirty="0"/>
              <a:t>low, medium, or high risk</a:t>
            </a:r>
            <a:r>
              <a:rPr lang="en-US" dirty="0"/>
              <a:t> and then provides </a:t>
            </a:r>
            <a:r>
              <a:rPr lang="en-US" b="1" dirty="0"/>
              <a:t>personalized guidance or </a:t>
            </a:r>
            <a:r>
              <a:rPr lang="en-US" b="1" dirty="0" smtClean="0"/>
              <a:t>counseling </a:t>
            </a:r>
            <a:r>
              <a:rPr lang="en-US" b="1" dirty="0"/>
              <a:t>suggestions</a:t>
            </a:r>
            <a:r>
              <a:rPr lang="en-US" dirty="0"/>
              <a:t>.</a:t>
            </a:r>
          </a:p>
        </p:txBody>
      </p:sp>
    </p:spTree>
    <p:extLst>
      <p:ext uri="{BB962C8B-B14F-4D97-AF65-F5344CB8AC3E}">
        <p14:creationId xmlns:p14="http://schemas.microsoft.com/office/powerpoint/2010/main" val="3380759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1F0E99-07CC-9576-AFD7-C52151AD0EA3}"/>
              </a:ext>
            </a:extLst>
          </p:cNvPr>
          <p:cNvSpPr>
            <a:spLocks noGrp="1"/>
          </p:cNvSpPr>
          <p:nvPr>
            <p:ph type="ctrTitle"/>
          </p:nvPr>
        </p:nvSpPr>
        <p:spPr/>
        <p:txBody>
          <a:bodyPr/>
          <a:lstStyle/>
          <a:p>
            <a:r>
              <a:rPr lang="en-US" dirty="0"/>
              <a:t>OBJECTIVES</a:t>
            </a:r>
          </a:p>
        </p:txBody>
      </p:sp>
      <p:sp>
        <p:nvSpPr>
          <p:cNvPr id="3" name="Subtitle 2">
            <a:extLst>
              <a:ext uri="{FF2B5EF4-FFF2-40B4-BE49-F238E27FC236}">
                <a16:creationId xmlns:a16="http://schemas.microsoft.com/office/drawing/2014/main" xmlns="" id="{5A82A8B0-333F-633E-3FA7-D38DBFB10971}"/>
              </a:ext>
            </a:extLst>
          </p:cNvPr>
          <p:cNvSpPr>
            <a:spLocks noGrp="1"/>
          </p:cNvSpPr>
          <p:nvPr>
            <p:ph type="subTitle" idx="1"/>
          </p:nvPr>
        </p:nvSpPr>
        <p:spPr>
          <a:xfrm>
            <a:off x="2228088" y="3630169"/>
            <a:ext cx="7735824" cy="1133856"/>
          </a:xfrm>
        </p:spPr>
        <p:txBody>
          <a:bodyPr/>
          <a:lstStyle/>
          <a:p>
            <a:endParaRPr lang="en-US" b="0" i="0" u="none" strike="noStrike" baseline="0" dirty="0" smtClean="0">
              <a:solidFill>
                <a:schemeClr val="tx2">
                  <a:lumMod val="60000"/>
                  <a:lumOff val="40000"/>
                </a:schemeClr>
              </a:solidFill>
              <a:latin typeface="Times New Roman" panose="02020603050405020304" pitchFamily="18" charset="0"/>
            </a:endParaRPr>
          </a:p>
          <a:p>
            <a:endParaRPr lang="en-US" dirty="0"/>
          </a:p>
        </p:txBody>
      </p:sp>
      <p:sp>
        <p:nvSpPr>
          <p:cNvPr id="5" name="TextBox 4">
            <a:extLst>
              <a:ext uri="{FF2B5EF4-FFF2-40B4-BE49-F238E27FC236}">
                <a16:creationId xmlns:a16="http://schemas.microsoft.com/office/drawing/2014/main" xmlns="" id="{E6C573CE-745C-A66B-F4B0-48FB0D89EC6A}"/>
              </a:ext>
            </a:extLst>
          </p:cNvPr>
          <p:cNvSpPr txBox="1"/>
          <p:nvPr/>
        </p:nvSpPr>
        <p:spPr>
          <a:xfrm>
            <a:off x="2586676" y="3630169"/>
            <a:ext cx="7297988" cy="2246769"/>
          </a:xfrm>
          <a:prstGeom prst="rect">
            <a:avLst/>
          </a:prstGeom>
          <a:noFill/>
        </p:spPr>
        <p:txBody>
          <a:bodyPr wrap="square">
            <a:spAutoFit/>
          </a:bodyPr>
          <a:lstStyle/>
          <a:p>
            <a:r>
              <a:rPr lang="en-US" sz="2400" b="1" dirty="0">
                <a:solidFill>
                  <a:schemeClr val="bg1"/>
                </a:solidFill>
              </a:rPr>
              <a:t>• Predict student dropout risk using academic and </a:t>
            </a:r>
            <a:r>
              <a:rPr lang="en-US" sz="2400" b="1" dirty="0" smtClean="0">
                <a:solidFill>
                  <a:schemeClr val="bg1"/>
                </a:solidFill>
              </a:rPr>
              <a:t>         behavioral data.</a:t>
            </a:r>
            <a:endParaRPr lang="en-US" sz="2400" b="1" dirty="0">
              <a:solidFill>
                <a:schemeClr val="bg1"/>
              </a:solidFill>
            </a:endParaRPr>
          </a:p>
          <a:p>
            <a:r>
              <a:rPr lang="en-US" sz="2400" b="1" dirty="0">
                <a:solidFill>
                  <a:schemeClr val="bg1"/>
                </a:solidFill>
              </a:rPr>
              <a:t>• Categorize students as Low, Medium, or High risk.</a:t>
            </a:r>
          </a:p>
          <a:p>
            <a:r>
              <a:rPr lang="en-US" sz="2400" b="1" dirty="0">
                <a:solidFill>
                  <a:schemeClr val="bg1"/>
                </a:solidFill>
              </a:rPr>
              <a:t>• Provide personalized </a:t>
            </a:r>
            <a:r>
              <a:rPr lang="en-US" sz="2400" b="1" dirty="0" smtClean="0">
                <a:solidFill>
                  <a:schemeClr val="bg1"/>
                </a:solidFill>
              </a:rPr>
              <a:t>counseling </a:t>
            </a:r>
            <a:r>
              <a:rPr lang="en-US" sz="2400" b="1" dirty="0">
                <a:solidFill>
                  <a:schemeClr val="bg1"/>
                </a:solidFill>
              </a:rPr>
              <a:t>recommendations.</a:t>
            </a:r>
          </a:p>
          <a:p>
            <a:r>
              <a:rPr lang="en-US" sz="2400" b="1" dirty="0">
                <a:solidFill>
                  <a:schemeClr val="bg1"/>
                </a:solidFill>
              </a:rPr>
              <a:t>• Help institutions reduce dropout rates.</a:t>
            </a:r>
          </a:p>
          <a:p>
            <a:pPr marL="285750" indent="-285750">
              <a:buFont typeface="Wingdings" panose="05000000000000000000" pitchFamily="2" charset="2"/>
              <a:buChar char="§"/>
            </a:pPr>
            <a:endParaRPr lang="en-US" sz="2000" b="0" i="0" u="none" strike="noStrike" baseline="0" dirty="0">
              <a:solidFill>
                <a:schemeClr val="bg1"/>
              </a:solidFill>
            </a:endParaRPr>
          </a:p>
        </p:txBody>
      </p:sp>
    </p:spTree>
    <p:extLst>
      <p:ext uri="{BB962C8B-B14F-4D97-AF65-F5344CB8AC3E}">
        <p14:creationId xmlns:p14="http://schemas.microsoft.com/office/powerpoint/2010/main" val="850786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itle 105">
            <a:extLst>
              <a:ext uri="{FF2B5EF4-FFF2-40B4-BE49-F238E27FC236}">
                <a16:creationId xmlns:a16="http://schemas.microsoft.com/office/drawing/2014/main" xmlns="" id="{734F8B63-0C1D-770B-CA9D-EE7ACF817C1F}"/>
              </a:ext>
            </a:extLst>
          </p:cNvPr>
          <p:cNvSpPr>
            <a:spLocks noGrp="1"/>
          </p:cNvSpPr>
          <p:nvPr>
            <p:ph type="title"/>
          </p:nvPr>
        </p:nvSpPr>
        <p:spPr/>
        <p:txBody>
          <a:bodyPr/>
          <a:lstStyle/>
          <a:p>
            <a:r>
              <a:rPr lang="en-US" dirty="0"/>
              <a:t>Planning of work</a:t>
            </a:r>
          </a:p>
        </p:txBody>
      </p:sp>
      <p:sp>
        <p:nvSpPr>
          <p:cNvPr id="139" name="Slide Number Placeholder 138">
            <a:extLst>
              <a:ext uri="{FF2B5EF4-FFF2-40B4-BE49-F238E27FC236}">
                <a16:creationId xmlns:a16="http://schemas.microsoft.com/office/drawing/2014/main" xmlns="" id="{0C6CCCC3-BCC9-AE9B-C2AE-4D9986B5F8AE}"/>
              </a:ext>
            </a:extLst>
          </p:cNvPr>
          <p:cNvSpPr>
            <a:spLocks noGrp="1"/>
          </p:cNvSpPr>
          <p:nvPr>
            <p:ph type="sldNum" sz="quarter" idx="11"/>
          </p:nvPr>
        </p:nvSpPr>
        <p:spPr/>
        <p:txBody>
          <a:bodyPr/>
          <a:lstStyle/>
          <a:p>
            <a:fld id="{294A09A9-5501-47C1-A89A-A340965A2BE2}" type="slidenum">
              <a:rPr lang="en-US" smtClean="0"/>
              <a:pPr/>
              <a:t>5</a:t>
            </a:fld>
            <a:endParaRPr lang="en-US" dirty="0"/>
          </a:p>
        </p:txBody>
      </p:sp>
      <p:sp>
        <p:nvSpPr>
          <p:cNvPr id="3" name="Text Placeholder 2">
            <a:extLst>
              <a:ext uri="{FF2B5EF4-FFF2-40B4-BE49-F238E27FC236}">
                <a16:creationId xmlns:a16="http://schemas.microsoft.com/office/drawing/2014/main" xmlns="" id="{0CF4EECB-47E7-26A0-F3A1-ACAE7AEE5741}"/>
              </a:ext>
            </a:extLst>
          </p:cNvPr>
          <p:cNvSpPr>
            <a:spLocks noGrp="1"/>
          </p:cNvSpPr>
          <p:nvPr>
            <p:ph type="body" sz="quarter" idx="12"/>
          </p:nvPr>
        </p:nvSpPr>
        <p:spPr/>
        <p:txBody>
          <a:bodyPr/>
          <a:lstStyle/>
          <a:p>
            <a:r>
              <a:rPr lang="en-US" dirty="0"/>
              <a:t>Step 1</a:t>
            </a:r>
          </a:p>
        </p:txBody>
      </p:sp>
      <p:sp>
        <p:nvSpPr>
          <p:cNvPr id="133" name="Text Placeholder 132">
            <a:extLst>
              <a:ext uri="{FF2B5EF4-FFF2-40B4-BE49-F238E27FC236}">
                <a16:creationId xmlns:a16="http://schemas.microsoft.com/office/drawing/2014/main" xmlns="" id="{0D7DF893-CDC1-A213-86BF-C9C73F979CC5}"/>
              </a:ext>
            </a:extLst>
          </p:cNvPr>
          <p:cNvSpPr>
            <a:spLocks noGrp="1"/>
          </p:cNvSpPr>
          <p:nvPr>
            <p:ph type="body" sz="quarter" idx="28"/>
          </p:nvPr>
        </p:nvSpPr>
        <p:spPr/>
        <p:txBody>
          <a:bodyPr/>
          <a:lstStyle/>
          <a:p>
            <a:endParaRPr lang="en-US" dirty="0"/>
          </a:p>
        </p:txBody>
      </p:sp>
      <p:sp>
        <p:nvSpPr>
          <p:cNvPr id="5" name="Text Placeholder 4">
            <a:extLst>
              <a:ext uri="{FF2B5EF4-FFF2-40B4-BE49-F238E27FC236}">
                <a16:creationId xmlns:a16="http://schemas.microsoft.com/office/drawing/2014/main" xmlns="" id="{AC2F0535-53EA-30FB-770D-0C92BEEF3F6D}"/>
              </a:ext>
            </a:extLst>
          </p:cNvPr>
          <p:cNvSpPr>
            <a:spLocks noGrp="1"/>
          </p:cNvSpPr>
          <p:nvPr>
            <p:ph type="body" sz="quarter" idx="14"/>
          </p:nvPr>
        </p:nvSpPr>
        <p:spPr/>
        <p:txBody>
          <a:bodyPr/>
          <a:lstStyle/>
          <a:p>
            <a:pPr lvl="0"/>
            <a:r>
              <a:rPr lang="en-US" dirty="0"/>
              <a:t>Step 2</a:t>
            </a:r>
          </a:p>
        </p:txBody>
      </p:sp>
      <p:sp>
        <p:nvSpPr>
          <p:cNvPr id="134" name="Text Placeholder 133">
            <a:extLst>
              <a:ext uri="{FF2B5EF4-FFF2-40B4-BE49-F238E27FC236}">
                <a16:creationId xmlns:a16="http://schemas.microsoft.com/office/drawing/2014/main" xmlns="" id="{9CE100CE-4574-F901-234D-B9BEED642B9B}"/>
              </a:ext>
            </a:extLst>
          </p:cNvPr>
          <p:cNvSpPr>
            <a:spLocks noGrp="1"/>
          </p:cNvSpPr>
          <p:nvPr>
            <p:ph type="body" sz="quarter" idx="29"/>
          </p:nvPr>
        </p:nvSpPr>
        <p:spPr/>
        <p:txBody>
          <a:bodyPr/>
          <a:lstStyle/>
          <a:p>
            <a:endParaRPr lang="en-US" dirty="0"/>
          </a:p>
        </p:txBody>
      </p:sp>
      <p:sp>
        <p:nvSpPr>
          <p:cNvPr id="7" name="Text Placeholder 6">
            <a:extLst>
              <a:ext uri="{FF2B5EF4-FFF2-40B4-BE49-F238E27FC236}">
                <a16:creationId xmlns:a16="http://schemas.microsoft.com/office/drawing/2014/main" xmlns="" id="{31511481-29C6-275B-963E-B5AF2E87ADA2}"/>
              </a:ext>
            </a:extLst>
          </p:cNvPr>
          <p:cNvSpPr>
            <a:spLocks noGrp="1"/>
          </p:cNvSpPr>
          <p:nvPr>
            <p:ph type="body" sz="quarter" idx="16"/>
          </p:nvPr>
        </p:nvSpPr>
        <p:spPr/>
        <p:txBody>
          <a:bodyPr/>
          <a:lstStyle/>
          <a:p>
            <a:pPr lvl="0"/>
            <a:r>
              <a:rPr lang="en-US" dirty="0"/>
              <a:t>Step 3</a:t>
            </a:r>
          </a:p>
        </p:txBody>
      </p:sp>
      <p:sp>
        <p:nvSpPr>
          <p:cNvPr id="135" name="Text Placeholder 134">
            <a:extLst>
              <a:ext uri="{FF2B5EF4-FFF2-40B4-BE49-F238E27FC236}">
                <a16:creationId xmlns:a16="http://schemas.microsoft.com/office/drawing/2014/main" xmlns="" id="{288EBDBE-0ABC-82CE-4598-09F65E315AD7}"/>
              </a:ext>
            </a:extLst>
          </p:cNvPr>
          <p:cNvSpPr>
            <a:spLocks noGrp="1"/>
          </p:cNvSpPr>
          <p:nvPr>
            <p:ph type="body" sz="quarter" idx="30"/>
          </p:nvPr>
        </p:nvSpPr>
        <p:spPr/>
        <p:txBody>
          <a:bodyPr/>
          <a:lstStyle/>
          <a:p>
            <a:endParaRPr lang="en-US" dirty="0"/>
          </a:p>
        </p:txBody>
      </p:sp>
      <p:sp>
        <p:nvSpPr>
          <p:cNvPr id="9" name="Text Placeholder 8">
            <a:extLst>
              <a:ext uri="{FF2B5EF4-FFF2-40B4-BE49-F238E27FC236}">
                <a16:creationId xmlns:a16="http://schemas.microsoft.com/office/drawing/2014/main" xmlns="" id="{2F32973A-CF94-1C2B-BB12-B563173CC79A}"/>
              </a:ext>
            </a:extLst>
          </p:cNvPr>
          <p:cNvSpPr>
            <a:spLocks noGrp="1"/>
          </p:cNvSpPr>
          <p:nvPr>
            <p:ph type="body" sz="quarter" idx="18"/>
          </p:nvPr>
        </p:nvSpPr>
        <p:spPr/>
        <p:txBody>
          <a:bodyPr/>
          <a:lstStyle/>
          <a:p>
            <a:pPr lvl="0"/>
            <a:r>
              <a:rPr lang="en-US" dirty="0"/>
              <a:t>Step 4</a:t>
            </a:r>
          </a:p>
        </p:txBody>
      </p:sp>
      <p:sp>
        <p:nvSpPr>
          <p:cNvPr id="136" name="Text Placeholder 135">
            <a:extLst>
              <a:ext uri="{FF2B5EF4-FFF2-40B4-BE49-F238E27FC236}">
                <a16:creationId xmlns:a16="http://schemas.microsoft.com/office/drawing/2014/main" xmlns="" id="{14F6CD04-2A18-A6BD-AAB9-1D30D1563399}"/>
              </a:ext>
            </a:extLst>
          </p:cNvPr>
          <p:cNvSpPr>
            <a:spLocks noGrp="1"/>
          </p:cNvSpPr>
          <p:nvPr>
            <p:ph type="body" sz="quarter" idx="31"/>
          </p:nvPr>
        </p:nvSpPr>
        <p:spPr/>
        <p:txBody>
          <a:bodyPr/>
          <a:lstStyle/>
          <a:p>
            <a:endParaRPr lang="en-US" dirty="0"/>
          </a:p>
        </p:txBody>
      </p:sp>
      <p:sp>
        <p:nvSpPr>
          <p:cNvPr id="11" name="Text Placeholder 10">
            <a:extLst>
              <a:ext uri="{FF2B5EF4-FFF2-40B4-BE49-F238E27FC236}">
                <a16:creationId xmlns:a16="http://schemas.microsoft.com/office/drawing/2014/main" xmlns="" id="{CE7AA813-84F0-DB50-F6B6-A29A94662DAD}"/>
              </a:ext>
            </a:extLst>
          </p:cNvPr>
          <p:cNvSpPr>
            <a:spLocks noGrp="1"/>
          </p:cNvSpPr>
          <p:nvPr>
            <p:ph type="body" sz="quarter" idx="20"/>
          </p:nvPr>
        </p:nvSpPr>
        <p:spPr/>
        <p:txBody>
          <a:bodyPr/>
          <a:lstStyle/>
          <a:p>
            <a:pPr lvl="0"/>
            <a:r>
              <a:rPr lang="en-US" dirty="0"/>
              <a:t>Step 5</a:t>
            </a:r>
          </a:p>
        </p:txBody>
      </p:sp>
      <p:sp>
        <p:nvSpPr>
          <p:cNvPr id="137" name="Text Placeholder 136">
            <a:extLst>
              <a:ext uri="{FF2B5EF4-FFF2-40B4-BE49-F238E27FC236}">
                <a16:creationId xmlns:a16="http://schemas.microsoft.com/office/drawing/2014/main" xmlns="" id="{C171CBDB-4593-F4D1-30E9-A47F4C7CADAF}"/>
              </a:ext>
            </a:extLst>
          </p:cNvPr>
          <p:cNvSpPr>
            <a:spLocks noGrp="1"/>
          </p:cNvSpPr>
          <p:nvPr>
            <p:ph type="body" sz="quarter" idx="32"/>
          </p:nvPr>
        </p:nvSpPr>
        <p:spPr/>
        <p:txBody>
          <a:bodyPr/>
          <a:lstStyle/>
          <a:p>
            <a:endParaRPr lang="en-US" dirty="0"/>
          </a:p>
        </p:txBody>
      </p:sp>
      <p:sp>
        <p:nvSpPr>
          <p:cNvPr id="69" name="Text Placeholder 68">
            <a:extLst>
              <a:ext uri="{FF2B5EF4-FFF2-40B4-BE49-F238E27FC236}">
                <a16:creationId xmlns:a16="http://schemas.microsoft.com/office/drawing/2014/main" xmlns="" id="{4BBDF45D-9B32-0154-7602-2C43DAF6C0A6}"/>
              </a:ext>
            </a:extLst>
          </p:cNvPr>
          <p:cNvSpPr>
            <a:spLocks noGrp="1"/>
          </p:cNvSpPr>
          <p:nvPr>
            <p:ph type="body" sz="quarter" idx="13"/>
          </p:nvPr>
        </p:nvSpPr>
        <p:spPr/>
        <p:txBody>
          <a:bodyPr/>
          <a:lstStyle/>
          <a:p>
            <a:pPr algn="ctr"/>
            <a:r>
              <a:rPr lang="en-US" sz="1600" dirty="0"/>
              <a:t>Problem Identification</a:t>
            </a:r>
            <a:endParaRPr lang="en-US" dirty="0"/>
          </a:p>
        </p:txBody>
      </p:sp>
      <p:sp>
        <p:nvSpPr>
          <p:cNvPr id="70" name="Text Placeholder 69">
            <a:extLst>
              <a:ext uri="{FF2B5EF4-FFF2-40B4-BE49-F238E27FC236}">
                <a16:creationId xmlns:a16="http://schemas.microsoft.com/office/drawing/2014/main" xmlns="" id="{38FF6C9F-C7C5-37D5-4C61-BA14A636B732}"/>
              </a:ext>
            </a:extLst>
          </p:cNvPr>
          <p:cNvSpPr>
            <a:spLocks noGrp="1"/>
          </p:cNvSpPr>
          <p:nvPr>
            <p:ph type="body" sz="quarter" idx="15"/>
          </p:nvPr>
        </p:nvSpPr>
        <p:spPr/>
        <p:txBody>
          <a:bodyPr/>
          <a:lstStyle/>
          <a:p>
            <a:r>
              <a:rPr lang="en-US" dirty="0"/>
              <a:t>Data Collection &amp; Feature Identification</a:t>
            </a:r>
            <a:endParaRPr lang="en-US" b="1" dirty="0"/>
          </a:p>
        </p:txBody>
      </p:sp>
      <p:sp>
        <p:nvSpPr>
          <p:cNvPr id="71" name="Text Placeholder 70">
            <a:extLst>
              <a:ext uri="{FF2B5EF4-FFF2-40B4-BE49-F238E27FC236}">
                <a16:creationId xmlns:a16="http://schemas.microsoft.com/office/drawing/2014/main" xmlns="" id="{5973BD56-1612-983E-EA67-F4039B062085}"/>
              </a:ext>
            </a:extLst>
          </p:cNvPr>
          <p:cNvSpPr>
            <a:spLocks noGrp="1"/>
          </p:cNvSpPr>
          <p:nvPr>
            <p:ph type="body" sz="quarter" idx="17"/>
          </p:nvPr>
        </p:nvSpPr>
        <p:spPr/>
        <p:txBody>
          <a:bodyPr/>
          <a:lstStyle/>
          <a:p>
            <a:r>
              <a:rPr lang="en-US" dirty="0"/>
              <a:t>Data Normalization</a:t>
            </a:r>
            <a:endParaRPr lang="en-US" dirty="0"/>
          </a:p>
        </p:txBody>
      </p:sp>
      <p:sp>
        <p:nvSpPr>
          <p:cNvPr id="72" name="Text Placeholder 71">
            <a:extLst>
              <a:ext uri="{FF2B5EF4-FFF2-40B4-BE49-F238E27FC236}">
                <a16:creationId xmlns:a16="http://schemas.microsoft.com/office/drawing/2014/main" xmlns="" id="{840CFADA-CAD6-2A04-5B15-5DB4DD6A84E0}"/>
              </a:ext>
            </a:extLst>
          </p:cNvPr>
          <p:cNvSpPr>
            <a:spLocks noGrp="1"/>
          </p:cNvSpPr>
          <p:nvPr>
            <p:ph type="body" sz="quarter" idx="19"/>
          </p:nvPr>
        </p:nvSpPr>
        <p:spPr/>
        <p:txBody>
          <a:bodyPr/>
          <a:lstStyle/>
          <a:p>
            <a:r>
              <a:rPr lang="en-US" dirty="0"/>
              <a:t>Risk Prediction Model</a:t>
            </a:r>
            <a:endParaRPr lang="en-US" b="1" dirty="0">
              <a:latin typeface="Segoe UI Variable Text Light" pitchFamily="2" charset="0"/>
            </a:endParaRPr>
          </a:p>
        </p:txBody>
      </p:sp>
      <p:sp>
        <p:nvSpPr>
          <p:cNvPr id="73" name="Text Placeholder 72">
            <a:extLst>
              <a:ext uri="{FF2B5EF4-FFF2-40B4-BE49-F238E27FC236}">
                <a16:creationId xmlns:a16="http://schemas.microsoft.com/office/drawing/2014/main" xmlns="" id="{DB3347BB-2913-A230-8362-2B778394E7CE}"/>
              </a:ext>
            </a:extLst>
          </p:cNvPr>
          <p:cNvSpPr>
            <a:spLocks noGrp="1"/>
          </p:cNvSpPr>
          <p:nvPr>
            <p:ph type="body" sz="quarter" idx="21"/>
          </p:nvPr>
        </p:nvSpPr>
        <p:spPr/>
        <p:txBody>
          <a:bodyPr/>
          <a:lstStyle/>
          <a:p>
            <a:pPr lvl="0"/>
            <a:r>
              <a:rPr lang="en-US" dirty="0" err="1"/>
              <a:t>Counselling</a:t>
            </a:r>
            <a:r>
              <a:rPr lang="en-US" dirty="0"/>
              <a:t> Suggestion Generation and System Implementation</a:t>
            </a:r>
            <a:endParaRPr lang="en-US" b="1" dirty="0"/>
          </a:p>
        </p:txBody>
      </p:sp>
    </p:spTree>
    <p:extLst>
      <p:ext uri="{BB962C8B-B14F-4D97-AF65-F5344CB8AC3E}">
        <p14:creationId xmlns:p14="http://schemas.microsoft.com/office/powerpoint/2010/main" val="3510130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3296" y="0"/>
            <a:ext cx="7763256" cy="755131"/>
          </a:xfrm>
        </p:spPr>
        <p:txBody>
          <a:bodyPr/>
          <a:lstStyle/>
          <a:p>
            <a:r>
              <a:rPr lang="en-US" dirty="0" smtClean="0"/>
              <a:t>METHODOLOGY</a:t>
            </a:r>
            <a:endParaRPr lang="en-US" dirty="0"/>
          </a:p>
        </p:txBody>
      </p:sp>
      <p:sp>
        <p:nvSpPr>
          <p:cNvPr id="3" name="Subtitle 2"/>
          <p:cNvSpPr>
            <a:spLocks noGrp="1"/>
          </p:cNvSpPr>
          <p:nvPr>
            <p:ph type="subTitle" idx="1"/>
          </p:nvPr>
        </p:nvSpPr>
        <p:spPr>
          <a:xfrm>
            <a:off x="7132319" y="1050878"/>
            <a:ext cx="4823119" cy="5445456"/>
          </a:xfrm>
        </p:spPr>
        <p:txBody>
          <a:bodyPr/>
          <a:lstStyle/>
          <a:p>
            <a:pPr algn="ctr"/>
            <a:r>
              <a:rPr lang="en-US" b="1" dirty="0">
                <a:latin typeface="Arial" pitchFamily="34" charset="0"/>
                <a:cs typeface="Arial" pitchFamily="34" charset="0"/>
              </a:rPr>
              <a:t>Start</a:t>
            </a:r>
          </a:p>
          <a:p>
            <a:pPr algn="ctr"/>
            <a:r>
              <a:rPr lang="en-US" b="1" dirty="0">
                <a:latin typeface="Arial" pitchFamily="34" charset="0"/>
                <a:cs typeface="Arial" pitchFamily="34" charset="0"/>
              </a:rPr>
              <a:t>     ↓</a:t>
            </a:r>
          </a:p>
          <a:p>
            <a:pPr algn="ctr"/>
            <a:r>
              <a:rPr lang="en-US" b="1" dirty="0">
                <a:latin typeface="Arial" pitchFamily="34" charset="0"/>
                <a:cs typeface="Arial" pitchFamily="34" charset="0"/>
              </a:rPr>
              <a:t>Identify Dropout Factors</a:t>
            </a:r>
          </a:p>
          <a:p>
            <a:pPr algn="ctr"/>
            <a:r>
              <a:rPr lang="en-US" b="1" dirty="0">
                <a:latin typeface="Arial" pitchFamily="34" charset="0"/>
                <a:cs typeface="Arial" pitchFamily="34" charset="0"/>
              </a:rPr>
              <a:t>     ↓</a:t>
            </a:r>
          </a:p>
          <a:p>
            <a:pPr algn="ctr"/>
            <a:r>
              <a:rPr lang="en-US" b="1" dirty="0">
                <a:latin typeface="Arial" pitchFamily="34" charset="0"/>
                <a:cs typeface="Arial" pitchFamily="34" charset="0"/>
              </a:rPr>
              <a:t>Collect &amp; Preprocess Student Data</a:t>
            </a:r>
          </a:p>
          <a:p>
            <a:pPr algn="ctr"/>
            <a:r>
              <a:rPr lang="en-US" b="1" dirty="0">
                <a:latin typeface="Arial" pitchFamily="34" charset="0"/>
                <a:cs typeface="Arial" pitchFamily="34" charset="0"/>
              </a:rPr>
              <a:t>     ↓</a:t>
            </a:r>
          </a:p>
          <a:p>
            <a:pPr algn="ctr"/>
            <a:r>
              <a:rPr lang="en-US" b="1" dirty="0">
                <a:latin typeface="Arial" pitchFamily="34" charset="0"/>
                <a:cs typeface="Arial" pitchFamily="34" charset="0"/>
              </a:rPr>
              <a:t>Normalize Feature Values</a:t>
            </a:r>
          </a:p>
          <a:p>
            <a:pPr algn="ctr"/>
            <a:r>
              <a:rPr lang="en-US" b="1" dirty="0">
                <a:latin typeface="Arial" pitchFamily="34" charset="0"/>
                <a:cs typeface="Arial" pitchFamily="34" charset="0"/>
              </a:rPr>
              <a:t>     ↓</a:t>
            </a:r>
          </a:p>
          <a:p>
            <a:pPr algn="ctr"/>
            <a:r>
              <a:rPr lang="en-US" b="1" dirty="0">
                <a:latin typeface="Arial" pitchFamily="34" charset="0"/>
                <a:cs typeface="Arial" pitchFamily="34" charset="0"/>
              </a:rPr>
              <a:t>Apply Logistic Risk Prediction Model</a:t>
            </a:r>
          </a:p>
          <a:p>
            <a:pPr algn="ctr"/>
            <a:r>
              <a:rPr lang="en-US" b="1" dirty="0">
                <a:latin typeface="Arial" pitchFamily="34" charset="0"/>
                <a:cs typeface="Arial" pitchFamily="34" charset="0"/>
              </a:rPr>
              <a:t>     ↓</a:t>
            </a:r>
          </a:p>
          <a:p>
            <a:pPr algn="ctr"/>
            <a:r>
              <a:rPr lang="en-US" b="1" dirty="0">
                <a:latin typeface="Arial" pitchFamily="34" charset="0"/>
                <a:cs typeface="Arial" pitchFamily="34" charset="0"/>
              </a:rPr>
              <a:t>Classify Risk (Low / Medium / High)</a:t>
            </a:r>
          </a:p>
          <a:p>
            <a:pPr algn="ctr"/>
            <a:r>
              <a:rPr lang="en-US" b="1" dirty="0">
                <a:latin typeface="Arial" pitchFamily="34" charset="0"/>
                <a:cs typeface="Arial" pitchFamily="34" charset="0"/>
              </a:rPr>
              <a:t>     ↓</a:t>
            </a:r>
          </a:p>
          <a:p>
            <a:pPr algn="ctr"/>
            <a:r>
              <a:rPr lang="en-US" b="1" dirty="0">
                <a:latin typeface="Arial" pitchFamily="34" charset="0"/>
                <a:cs typeface="Arial" pitchFamily="34" charset="0"/>
              </a:rPr>
              <a:t>Provide Counseling Suggestions</a:t>
            </a:r>
          </a:p>
          <a:p>
            <a:pPr algn="ctr"/>
            <a:endParaRPr lang="en-US" b="1" dirty="0">
              <a:latin typeface="Arial" pitchFamily="34" charset="0"/>
              <a:cs typeface="Arial"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698" y="859809"/>
            <a:ext cx="6858000" cy="5875361"/>
          </a:xfrm>
          <a:prstGeom prst="rect">
            <a:avLst/>
          </a:prstGeom>
        </p:spPr>
      </p:pic>
    </p:spTree>
    <p:extLst>
      <p:ext uri="{BB962C8B-B14F-4D97-AF65-F5344CB8AC3E}">
        <p14:creationId xmlns:p14="http://schemas.microsoft.com/office/powerpoint/2010/main" val="1550673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343701" y="204716"/>
            <a:ext cx="5554639" cy="646331"/>
          </a:xfrm>
          <a:prstGeom prst="rect">
            <a:avLst/>
          </a:prstGeom>
          <a:noFill/>
        </p:spPr>
        <p:txBody>
          <a:bodyPr wrap="square" rtlCol="0">
            <a:spAutoFit/>
          </a:bodyPr>
          <a:lstStyle/>
          <a:p>
            <a:pPr algn="ctr"/>
            <a:r>
              <a:rPr lang="en-US" sz="3600" b="1" dirty="0">
                <a:solidFill>
                  <a:schemeClr val="bg1"/>
                </a:solidFill>
                <a:latin typeface="Arial" pitchFamily="34" charset="0"/>
                <a:cs typeface="Arial" pitchFamily="34" charset="0"/>
              </a:rPr>
              <a:t>System Features</a:t>
            </a:r>
          </a:p>
        </p:txBody>
      </p:sp>
      <p:sp>
        <p:nvSpPr>
          <p:cNvPr id="6" name="TextBox 5"/>
          <p:cNvSpPr txBox="1"/>
          <p:nvPr/>
        </p:nvSpPr>
        <p:spPr>
          <a:xfrm>
            <a:off x="395784" y="1405718"/>
            <a:ext cx="11423177" cy="4154984"/>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4400" dirty="0">
                <a:solidFill>
                  <a:schemeClr val="bg1"/>
                </a:solidFill>
                <a:latin typeface="Arial" pitchFamily="34" charset="0"/>
                <a:cs typeface="Arial" pitchFamily="34" charset="0"/>
              </a:rPr>
              <a:t>• Dropout Risk Prediction Module</a:t>
            </a:r>
          </a:p>
          <a:p>
            <a:r>
              <a:rPr lang="en-US" sz="4400" dirty="0">
                <a:solidFill>
                  <a:schemeClr val="bg1"/>
                </a:solidFill>
                <a:latin typeface="Arial" pitchFamily="34" charset="0"/>
                <a:cs typeface="Arial" pitchFamily="34" charset="0"/>
              </a:rPr>
              <a:t>• Personalized </a:t>
            </a:r>
            <a:r>
              <a:rPr lang="en-US" sz="4400" dirty="0" smtClean="0">
                <a:solidFill>
                  <a:schemeClr val="bg1"/>
                </a:solidFill>
                <a:latin typeface="Arial" pitchFamily="34" charset="0"/>
                <a:cs typeface="Arial" pitchFamily="34" charset="0"/>
              </a:rPr>
              <a:t>Counseling </a:t>
            </a:r>
            <a:r>
              <a:rPr lang="en-US" sz="4400" dirty="0">
                <a:solidFill>
                  <a:schemeClr val="bg1"/>
                </a:solidFill>
                <a:latin typeface="Arial" pitchFamily="34" charset="0"/>
                <a:cs typeface="Arial" pitchFamily="34" charset="0"/>
              </a:rPr>
              <a:t>Suggestions</a:t>
            </a:r>
          </a:p>
          <a:p>
            <a:r>
              <a:rPr lang="en-US" sz="4400" dirty="0">
                <a:solidFill>
                  <a:schemeClr val="bg1"/>
                </a:solidFill>
                <a:latin typeface="Arial" pitchFamily="34" charset="0"/>
                <a:cs typeface="Arial" pitchFamily="34" charset="0"/>
              </a:rPr>
              <a:t>• </a:t>
            </a:r>
            <a:r>
              <a:rPr lang="en-US" sz="4400" dirty="0" smtClean="0">
                <a:solidFill>
                  <a:schemeClr val="bg1"/>
                </a:solidFill>
                <a:latin typeface="Arial" pitchFamily="34" charset="0"/>
                <a:cs typeface="Arial" pitchFamily="34" charset="0"/>
              </a:rPr>
              <a:t>Chat bot </a:t>
            </a:r>
            <a:r>
              <a:rPr lang="en-US" sz="4400" dirty="0">
                <a:solidFill>
                  <a:schemeClr val="bg1"/>
                </a:solidFill>
                <a:latin typeface="Arial" pitchFamily="34" charset="0"/>
                <a:cs typeface="Arial" pitchFamily="34" charset="0"/>
              </a:rPr>
              <a:t>for quick student support</a:t>
            </a:r>
          </a:p>
          <a:p>
            <a:r>
              <a:rPr lang="en-US" sz="4400" dirty="0">
                <a:solidFill>
                  <a:schemeClr val="bg1"/>
                </a:solidFill>
                <a:latin typeface="Arial" pitchFamily="34" charset="0"/>
                <a:cs typeface="Arial" pitchFamily="34" charset="0"/>
              </a:rPr>
              <a:t>• Daily Routine Tracker</a:t>
            </a:r>
          </a:p>
          <a:p>
            <a:r>
              <a:rPr lang="en-US" sz="4400" dirty="0">
                <a:solidFill>
                  <a:schemeClr val="bg1"/>
                </a:solidFill>
                <a:latin typeface="Arial" pitchFamily="34" charset="0"/>
                <a:cs typeface="Arial" pitchFamily="34" charset="0"/>
              </a:rPr>
              <a:t>• To-Do Task Manager</a:t>
            </a:r>
          </a:p>
          <a:p>
            <a:r>
              <a:rPr lang="en-US" sz="4400" dirty="0">
                <a:solidFill>
                  <a:schemeClr val="bg1"/>
                </a:solidFill>
                <a:latin typeface="Arial" pitchFamily="34" charset="0"/>
                <a:cs typeface="Arial" pitchFamily="34" charset="0"/>
              </a:rPr>
              <a:t>• Resume Builder</a:t>
            </a:r>
          </a:p>
        </p:txBody>
      </p:sp>
    </p:spTree>
    <p:extLst>
      <p:ext uri="{BB962C8B-B14F-4D97-AF65-F5344CB8AC3E}">
        <p14:creationId xmlns:p14="http://schemas.microsoft.com/office/powerpoint/2010/main" val="3177256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089B49FD-9CB5-32F2-375E-ED06BA1002CD}"/>
              </a:ext>
            </a:extLst>
          </p:cNvPr>
          <p:cNvSpPr txBox="1"/>
          <p:nvPr/>
        </p:nvSpPr>
        <p:spPr>
          <a:xfrm>
            <a:off x="3407390" y="6222343"/>
            <a:ext cx="6096000" cy="507831"/>
          </a:xfrm>
          <a:prstGeom prst="rect">
            <a:avLst/>
          </a:prstGeom>
          <a:noFill/>
        </p:spPr>
        <p:txBody>
          <a:bodyPr wrap="square">
            <a:spAutoFit/>
          </a:bodyPr>
          <a:lstStyle/>
          <a:p>
            <a:pPr marL="0" marR="0" algn="ctr">
              <a:lnSpc>
                <a:spcPct val="150000"/>
              </a:lnSpc>
              <a:spcBef>
                <a:spcPts val="0"/>
              </a:spcBef>
              <a:spcAft>
                <a:spcPts val="800"/>
              </a:spcAft>
            </a:pPr>
            <a:r>
              <a:rPr lang="en-US" sz="1800" b="1"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Snapshot of </a:t>
            </a:r>
            <a:r>
              <a:rPr lang="en-US" b="1" dirty="0" smtClean="0">
                <a:solidFill>
                  <a:schemeClr val="bg1"/>
                </a:solidFill>
                <a:latin typeface="Times New Roman" panose="02020603050405020304" pitchFamily="18" charset="0"/>
                <a:ea typeface="Calibri" panose="020F0502020204030204" pitchFamily="34" charset="0"/>
                <a:cs typeface="Times New Roman" panose="02020603050405020304" pitchFamily="18" charset="0"/>
              </a:rPr>
              <a:t>Login Page</a:t>
            </a:r>
            <a:endParaRPr lang="en-US" sz="16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012" y="150125"/>
            <a:ext cx="11641540" cy="6072218"/>
          </a:xfrm>
          <a:prstGeom prst="rect">
            <a:avLst/>
          </a:prstGeom>
        </p:spPr>
      </p:pic>
    </p:spTree>
    <p:extLst>
      <p:ext uri="{BB962C8B-B14F-4D97-AF65-F5344CB8AC3E}">
        <p14:creationId xmlns:p14="http://schemas.microsoft.com/office/powerpoint/2010/main" val="16036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743139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89E73D4-535B-6DCC-2268-43A5E9E12C45}"/>
              </a:ext>
            </a:extLst>
          </p:cNvPr>
          <p:cNvSpPr>
            <a:spLocks noGrp="1"/>
          </p:cNvSpPr>
          <p:nvPr>
            <p:ph type="title"/>
          </p:nvPr>
        </p:nvSpPr>
        <p:spPr>
          <a:xfrm>
            <a:off x="1001262" y="312868"/>
            <a:ext cx="8878824" cy="1069848"/>
          </a:xfrm>
        </p:spPr>
        <p:txBody>
          <a:bodyPr/>
          <a:lstStyle/>
          <a:p>
            <a:r>
              <a:rPr lang="en-US" dirty="0"/>
              <a:t>Snapshot of work</a:t>
            </a:r>
            <a:endParaRPr lang="en-US" sz="1800" dirty="0">
              <a:latin typeface="Segoe UI Variable Small Semilig" pitchFamily="2" charset="0"/>
            </a:endParaRPr>
          </a:p>
        </p:txBody>
      </p:sp>
      <p:sp>
        <p:nvSpPr>
          <p:cNvPr id="6" name="Slide Number Placeholder 5">
            <a:extLst>
              <a:ext uri="{FF2B5EF4-FFF2-40B4-BE49-F238E27FC236}">
                <a16:creationId xmlns:a16="http://schemas.microsoft.com/office/drawing/2014/main" xmlns="" id="{6459FCA3-0124-0FA6-220B-D72E8F8034C8}"/>
              </a:ext>
            </a:extLst>
          </p:cNvPr>
          <p:cNvSpPr>
            <a:spLocks noGrp="1"/>
          </p:cNvSpPr>
          <p:nvPr>
            <p:ph type="sldNum" sz="quarter" idx="12"/>
          </p:nvPr>
        </p:nvSpPr>
        <p:spPr/>
        <p:txBody>
          <a:bodyPr/>
          <a:lstStyle/>
          <a:p>
            <a:fld id="{294A09A9-5501-47C1-A89A-A340965A2BE2}" type="slidenum">
              <a:rPr lang="en-US" smtClean="0"/>
              <a:t>10</a:t>
            </a:fld>
            <a:endParaRPr lang="en-US" dirty="0"/>
          </a:p>
        </p:txBody>
      </p:sp>
      <p:sp>
        <p:nvSpPr>
          <p:cNvPr id="3" name="Rectangle 13">
            <a:extLst>
              <a:ext uri="{FF2B5EF4-FFF2-40B4-BE49-F238E27FC236}">
                <a16:creationId xmlns:a16="http://schemas.microsoft.com/office/drawing/2014/main" xmlns="" id="{84A45E9E-19E6-E4C9-8062-255BCCF68528}"/>
              </a:ext>
            </a:extLst>
          </p:cNvPr>
          <p:cNvSpPr>
            <a:spLocks noChangeArrowheads="1"/>
          </p:cNvSpPr>
          <p:nvPr/>
        </p:nvSpPr>
        <p:spPr bwMode="auto">
          <a:xfrm>
            <a:off x="1107227" y="1377759"/>
            <a:ext cx="1662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Login Page</a:t>
            </a:r>
            <a:endParaRPr kumimoji="0" lang="en-US" altLang="en-US" sz="24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sp>
        <p:nvSpPr>
          <p:cNvPr id="4" name="Rectangle 14">
            <a:extLst>
              <a:ext uri="{FF2B5EF4-FFF2-40B4-BE49-F238E27FC236}">
                <a16:creationId xmlns:a16="http://schemas.microsoft.com/office/drawing/2014/main" xmlns="" id="{8FC745A0-9F94-57D0-DB21-FFC208A43604}"/>
              </a:ext>
            </a:extLst>
          </p:cNvPr>
          <p:cNvSpPr>
            <a:spLocks noChangeArrowheads="1"/>
          </p:cNvSpPr>
          <p:nvPr/>
        </p:nvSpPr>
        <p:spPr bwMode="auto">
          <a:xfrm>
            <a:off x="6875887" y="1377758"/>
            <a:ext cx="181812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Signup Page</a:t>
            </a:r>
            <a:endParaRPr kumimoji="0" lang="en-US" altLang="en-US" sz="24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sp>
        <p:nvSpPr>
          <p:cNvPr id="12" name="Rectangle 21">
            <a:extLst>
              <a:ext uri="{FF2B5EF4-FFF2-40B4-BE49-F238E27FC236}">
                <a16:creationId xmlns:a16="http://schemas.microsoft.com/office/drawing/2014/main" xmlns="" id="{D67E4169-CEA7-9000-F118-CDB6098B0D89}"/>
              </a:ext>
            </a:extLst>
          </p:cNvPr>
          <p:cNvSpPr>
            <a:spLocks noChangeArrowheads="1"/>
          </p:cNvSpPr>
          <p:nvPr/>
        </p:nvSpPr>
        <p:spPr bwMode="auto">
          <a:xfrm>
            <a:off x="0" y="251153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solidFill>
                <a:schemeClr val="bg1"/>
              </a:solidFill>
            </a:endParaRPr>
          </a:p>
        </p:txBody>
      </p:sp>
      <p:sp>
        <p:nvSpPr>
          <p:cNvPr id="13" name="Rectangle 22">
            <a:extLst>
              <a:ext uri="{FF2B5EF4-FFF2-40B4-BE49-F238E27FC236}">
                <a16:creationId xmlns:a16="http://schemas.microsoft.com/office/drawing/2014/main" xmlns="" id="{A196A882-FC86-A7F9-2ECE-1995D9CD2703}"/>
              </a:ext>
            </a:extLst>
          </p:cNvPr>
          <p:cNvSpPr>
            <a:spLocks noChangeArrowheads="1"/>
          </p:cNvSpPr>
          <p:nvPr/>
        </p:nvSpPr>
        <p:spPr bwMode="auto">
          <a:xfrm>
            <a:off x="0" y="274854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solidFill>
                <a:schemeClr val="bg1"/>
              </a:solidFill>
            </a:endParaRPr>
          </a:p>
        </p:txBody>
      </p:sp>
      <p:sp>
        <p:nvSpPr>
          <p:cNvPr id="14" name="Rectangle 23">
            <a:extLst>
              <a:ext uri="{FF2B5EF4-FFF2-40B4-BE49-F238E27FC236}">
                <a16:creationId xmlns:a16="http://schemas.microsoft.com/office/drawing/2014/main" xmlns="" id="{1E93DC45-A09D-8BD6-C7F1-D46B80F4FDD3}"/>
              </a:ext>
            </a:extLst>
          </p:cNvPr>
          <p:cNvSpPr>
            <a:spLocks noChangeArrowheads="1"/>
          </p:cNvSpPr>
          <p:nvPr/>
        </p:nvSpPr>
        <p:spPr bwMode="auto">
          <a:xfrm>
            <a:off x="0" y="297492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solidFill>
                <a:schemeClr val="bg1"/>
              </a:solidFill>
            </a:endParaRPr>
          </a:p>
        </p:txBody>
      </p:sp>
      <p:sp>
        <p:nvSpPr>
          <p:cNvPr id="15" name="Rectangle 24">
            <a:extLst>
              <a:ext uri="{FF2B5EF4-FFF2-40B4-BE49-F238E27FC236}">
                <a16:creationId xmlns:a16="http://schemas.microsoft.com/office/drawing/2014/main" xmlns="" id="{4E00ACAE-94C2-36FD-3EB8-089D1588C8E6}"/>
              </a:ext>
            </a:extLst>
          </p:cNvPr>
          <p:cNvSpPr>
            <a:spLocks noChangeArrowheads="1"/>
          </p:cNvSpPr>
          <p:nvPr/>
        </p:nvSpPr>
        <p:spPr bwMode="auto">
          <a:xfrm>
            <a:off x="0" y="329797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solidFill>
                <a:schemeClr val="bg1"/>
              </a:solidFill>
            </a:endParaRPr>
          </a:p>
        </p:txBody>
      </p:sp>
      <p:sp>
        <p:nvSpPr>
          <p:cNvPr id="16" name="Rectangle 25">
            <a:extLst>
              <a:ext uri="{FF2B5EF4-FFF2-40B4-BE49-F238E27FC236}">
                <a16:creationId xmlns:a16="http://schemas.microsoft.com/office/drawing/2014/main" xmlns="" id="{9F98773A-9F8B-A6DE-1FE8-D2147620E961}"/>
              </a:ext>
            </a:extLst>
          </p:cNvPr>
          <p:cNvSpPr>
            <a:spLocks noChangeArrowheads="1"/>
          </p:cNvSpPr>
          <p:nvPr/>
        </p:nvSpPr>
        <p:spPr bwMode="auto">
          <a:xfrm>
            <a:off x="0" y="360738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solidFill>
                <a:schemeClr val="bg1"/>
              </a:solid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4275" y="1894782"/>
            <a:ext cx="5472752" cy="4847212"/>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1862" y="1894782"/>
            <a:ext cx="5229677" cy="4847212"/>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877080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CD43B81-4B16-C7E5-874E-CFC4AF850BEE}"/>
              </a:ext>
            </a:extLst>
          </p:cNvPr>
          <p:cNvSpPr txBox="1"/>
          <p:nvPr/>
        </p:nvSpPr>
        <p:spPr>
          <a:xfrm>
            <a:off x="2805936" y="0"/>
            <a:ext cx="6096000" cy="861774"/>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2806700" algn="l"/>
              </a:tabLst>
            </a:pPr>
            <a:r>
              <a:rPr lang="en-US" altLang="en-US" sz="2400" b="1" dirty="0" smtClean="0">
                <a:solidFill>
                  <a:schemeClr val="bg1"/>
                </a:solidFill>
                <a:latin typeface="Times New Roman" panose="02020603050405020304" pitchFamily="18" charset="0"/>
                <a:ea typeface="Calibri" panose="020F0502020204030204" pitchFamily="34" charset="0"/>
                <a:cs typeface="Times New Roman" panose="02020603050405020304" pitchFamily="18" charset="0"/>
              </a:rPr>
              <a:t>Prediction system</a:t>
            </a:r>
            <a:endParaRPr kumimoji="0" lang="en-US" altLang="en-US" sz="2400" b="0" i="0" u="none" strike="noStrike" cap="none" normalizeH="0" baseline="0" dirty="0">
              <a:ln>
                <a:noFill/>
              </a:ln>
              <a:solidFill>
                <a:schemeClr val="bg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tab pos="2806700" algn="l"/>
              </a:tabLst>
            </a:pP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842" y="532264"/>
            <a:ext cx="11436824" cy="6168788"/>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956928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CD43B81-4B16-C7E5-874E-CFC4AF850BEE}"/>
              </a:ext>
            </a:extLst>
          </p:cNvPr>
          <p:cNvSpPr txBox="1"/>
          <p:nvPr/>
        </p:nvSpPr>
        <p:spPr>
          <a:xfrm>
            <a:off x="3066197" y="26386"/>
            <a:ext cx="6096000" cy="861774"/>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tab pos="2806700" algn="l"/>
              </a:tabLst>
            </a:pPr>
            <a:r>
              <a:rPr lang="en-US" altLang="en-US" sz="2400" b="1" dirty="0" smtClean="0">
                <a:solidFill>
                  <a:schemeClr val="bg1"/>
                </a:solidFill>
                <a:latin typeface="Times New Roman" panose="02020603050405020304" pitchFamily="18" charset="0"/>
                <a:ea typeface="Calibri" panose="020F0502020204030204" pitchFamily="34" charset="0"/>
                <a:cs typeface="Times New Roman" panose="02020603050405020304" pitchFamily="18" charset="0"/>
              </a:rPr>
              <a:t>Counseling system</a:t>
            </a:r>
            <a:endParaRPr kumimoji="0" lang="en-US" altLang="en-US" sz="2400" b="0" i="0" u="none" strike="noStrike" cap="none" normalizeH="0" baseline="0" dirty="0">
              <a:ln>
                <a:noFill/>
              </a:ln>
              <a:solidFill>
                <a:schemeClr val="bg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tab pos="2806700" algn="l"/>
              </a:tabLst>
            </a:pPr>
            <a:endParaRPr kumimoji="0" lang="en-US" altLang="en-US" sz="2400" b="0" i="0" u="none" strike="noStrike" cap="none" normalizeH="0" baseline="0" dirty="0">
              <a:ln>
                <a:noFill/>
              </a:ln>
              <a:solidFill>
                <a:schemeClr val="bg1"/>
              </a:solidFill>
              <a:effectLst/>
              <a:latin typeface="Arial" panose="020B06040202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137" y="600501"/>
            <a:ext cx="11464120" cy="615514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493565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CD43B81-4B16-C7E5-874E-CFC4AF850BEE}"/>
              </a:ext>
            </a:extLst>
          </p:cNvPr>
          <p:cNvSpPr txBox="1"/>
          <p:nvPr/>
        </p:nvSpPr>
        <p:spPr>
          <a:xfrm>
            <a:off x="499465" y="285693"/>
            <a:ext cx="11196666" cy="830997"/>
          </a:xfrm>
          <a:prstGeom prst="rect">
            <a:avLst/>
          </a:prstGeom>
          <a:noFill/>
        </p:spPr>
        <p:txBody>
          <a:bodyPr wrap="square">
            <a:spAutoFit/>
          </a:bodyPr>
          <a:lstStyle/>
          <a:p>
            <a:r>
              <a:rPr lang="en-US" sz="2400" b="1" dirty="0" smtClean="0"/>
              <a:t>  </a:t>
            </a:r>
            <a:r>
              <a:rPr lang="en-US" sz="2400" b="1" u="sng" dirty="0" smtClean="0">
                <a:solidFill>
                  <a:schemeClr val="bg1"/>
                </a:solidFill>
              </a:rPr>
              <a:t>Daily </a:t>
            </a:r>
            <a:r>
              <a:rPr lang="en-US" sz="2400" b="1" u="sng" dirty="0">
                <a:solidFill>
                  <a:schemeClr val="bg1"/>
                </a:solidFill>
              </a:rPr>
              <a:t>Routine </a:t>
            </a:r>
            <a:r>
              <a:rPr lang="en-US" sz="2400" b="1" u="sng" dirty="0" smtClean="0">
                <a:solidFill>
                  <a:schemeClr val="bg1"/>
                </a:solidFill>
              </a:rPr>
              <a:t>Tracker                                                             To-Do </a:t>
            </a:r>
            <a:r>
              <a:rPr lang="en-US" sz="2400" b="1" u="sng" dirty="0">
                <a:solidFill>
                  <a:schemeClr val="bg1"/>
                </a:solidFill>
              </a:rPr>
              <a:t>List Maker</a:t>
            </a:r>
          </a:p>
          <a:p>
            <a:endParaRPr lang="en-US" sz="2400" b="1" dirty="0"/>
          </a:p>
        </p:txBody>
      </p:sp>
      <p:cxnSp>
        <p:nvCxnSpPr>
          <p:cNvPr id="4" name="Straight Connector 3"/>
          <p:cNvCxnSpPr/>
          <p:nvPr/>
        </p:nvCxnSpPr>
        <p:spPr>
          <a:xfrm>
            <a:off x="6097798" y="701191"/>
            <a:ext cx="0" cy="587703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5957" y="1116688"/>
            <a:ext cx="5565833" cy="4997507"/>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012" y="1116690"/>
            <a:ext cx="5622877" cy="499702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2992124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C5BC92-868A-26B2-CBC0-C9D94E65F1A4}"/>
              </a:ext>
            </a:extLst>
          </p:cNvPr>
          <p:cNvSpPr>
            <a:spLocks noGrp="1"/>
          </p:cNvSpPr>
          <p:nvPr>
            <p:ph type="ctrTitle"/>
          </p:nvPr>
        </p:nvSpPr>
        <p:spPr>
          <a:xfrm>
            <a:off x="2282679" y="247298"/>
            <a:ext cx="7735824" cy="1069848"/>
          </a:xfrm>
        </p:spPr>
        <p:txBody>
          <a:bodyPr/>
          <a:lstStyle/>
          <a:p>
            <a:r>
              <a:rPr lang="en-US" dirty="0" smtClean="0">
                <a:ln w="28575">
                  <a:noFill/>
                  <a:prstDash val="solid"/>
                </a:ln>
                <a:latin typeface="Tw Cen MT" panose="020B0602020104020603" pitchFamily="34" charset="77"/>
                <a:ea typeface="Verdana" panose="020B0604030504040204" pitchFamily="34" charset="0"/>
              </a:rPr>
              <a:t>FUTURE SCOPE</a:t>
            </a:r>
            <a:endParaRPr lang="en-US" dirty="0"/>
          </a:p>
        </p:txBody>
      </p:sp>
      <p:sp>
        <p:nvSpPr>
          <p:cNvPr id="4" name="TextBox 3"/>
          <p:cNvSpPr txBox="1"/>
          <p:nvPr/>
        </p:nvSpPr>
        <p:spPr>
          <a:xfrm>
            <a:off x="777922" y="1651379"/>
            <a:ext cx="10768084" cy="4062651"/>
          </a:xfrm>
          <a:prstGeom prst="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4000" b="1" dirty="0">
                <a:solidFill>
                  <a:schemeClr val="bg1"/>
                </a:solidFill>
              </a:rPr>
              <a:t>• Integrate real-time college database.</a:t>
            </a:r>
          </a:p>
          <a:p>
            <a:r>
              <a:rPr lang="en-US" sz="4000" b="1" dirty="0">
                <a:solidFill>
                  <a:schemeClr val="bg1"/>
                </a:solidFill>
              </a:rPr>
              <a:t>• Use advanced ML models for improved accuracy.</a:t>
            </a:r>
          </a:p>
          <a:p>
            <a:r>
              <a:rPr lang="en-US" sz="4000" b="1" dirty="0">
                <a:solidFill>
                  <a:schemeClr val="bg1"/>
                </a:solidFill>
              </a:rPr>
              <a:t>• Expand </a:t>
            </a:r>
            <a:r>
              <a:rPr lang="en-US" sz="4000" b="1" dirty="0" smtClean="0">
                <a:solidFill>
                  <a:schemeClr val="bg1"/>
                </a:solidFill>
              </a:rPr>
              <a:t>counseling </a:t>
            </a:r>
            <a:r>
              <a:rPr lang="en-US" sz="4000" b="1" dirty="0">
                <a:solidFill>
                  <a:schemeClr val="bg1"/>
                </a:solidFill>
              </a:rPr>
              <a:t>to mental health and career planning.</a:t>
            </a:r>
          </a:p>
          <a:p>
            <a:r>
              <a:rPr lang="en-US" sz="4000" b="1" dirty="0">
                <a:solidFill>
                  <a:schemeClr val="bg1"/>
                </a:solidFill>
              </a:rPr>
              <a:t>• Develop mobile app version.</a:t>
            </a:r>
          </a:p>
          <a:p>
            <a:endParaRPr lang="en-US" dirty="0"/>
          </a:p>
        </p:txBody>
      </p:sp>
    </p:spTree>
    <p:extLst>
      <p:ext uri="{BB962C8B-B14F-4D97-AF65-F5344CB8AC3E}">
        <p14:creationId xmlns:p14="http://schemas.microsoft.com/office/powerpoint/2010/main" val="1958759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C5BC92-868A-26B2-CBC0-C9D94E65F1A4}"/>
              </a:ext>
            </a:extLst>
          </p:cNvPr>
          <p:cNvSpPr>
            <a:spLocks noGrp="1"/>
          </p:cNvSpPr>
          <p:nvPr>
            <p:ph type="ctrTitle"/>
          </p:nvPr>
        </p:nvSpPr>
        <p:spPr/>
        <p:txBody>
          <a:bodyPr/>
          <a:lstStyle/>
          <a:p>
            <a:r>
              <a:rPr lang="en-US" dirty="0">
                <a:ln w="28575">
                  <a:noFill/>
                  <a:prstDash val="solid"/>
                </a:ln>
                <a:latin typeface="Tw Cen MT" panose="020B0602020104020603" pitchFamily="34" charset="77"/>
                <a:ea typeface="Verdana" panose="020B0604030504040204" pitchFamily="34" charset="0"/>
              </a:rPr>
              <a:t>References</a:t>
            </a:r>
            <a:endParaRPr lang="en-US" dirty="0"/>
          </a:p>
        </p:txBody>
      </p:sp>
      <p:sp>
        <p:nvSpPr>
          <p:cNvPr id="3" name="Subtitle 2">
            <a:extLst>
              <a:ext uri="{FF2B5EF4-FFF2-40B4-BE49-F238E27FC236}">
                <a16:creationId xmlns:a16="http://schemas.microsoft.com/office/drawing/2014/main" xmlns="" id="{6F9C1627-7A56-025E-482D-E2AB014EDF92}"/>
              </a:ext>
            </a:extLst>
          </p:cNvPr>
          <p:cNvSpPr>
            <a:spLocks noGrp="1"/>
          </p:cNvSpPr>
          <p:nvPr>
            <p:ph type="subTitle" idx="1"/>
          </p:nvPr>
        </p:nvSpPr>
        <p:spPr>
          <a:xfrm>
            <a:off x="4272041" y="3102326"/>
            <a:ext cx="7735824" cy="3146074"/>
          </a:xfrm>
        </p:spPr>
        <p:txBody>
          <a:bodyPr/>
          <a:lstStyle/>
          <a:p>
            <a:pPr marL="285750" indent="-285750" algn="l">
              <a:buFont typeface="Arial" panose="020B0604020202020204" pitchFamily="34" charset="0"/>
              <a:buChar char="•"/>
            </a:pPr>
            <a:endParaRPr lang="en-US" sz="1800" b="0" i="0" u="none" strike="noStrike" baseline="0" dirty="0">
              <a:solidFill>
                <a:srgbClr val="000000"/>
              </a:solidFill>
              <a:latin typeface="Symbol" panose="05050102010706020507" pitchFamily="18" charset="2"/>
            </a:endParaRPr>
          </a:p>
          <a:p>
            <a:pPr marL="285750" indent="-285750" algn="l">
              <a:buFont typeface="Arial" panose="020B0604020202020204" pitchFamily="34" charset="0"/>
              <a:buChar char="•"/>
            </a:pPr>
            <a:r>
              <a:rPr lang="en-US" sz="1800" b="0" i="0" u="none" strike="noStrike" baseline="0" dirty="0">
                <a:latin typeface="Segoe UI Variable Small" pitchFamily="2" charset="0"/>
              </a:rPr>
              <a:t> www.stackoverflow.com </a:t>
            </a:r>
          </a:p>
          <a:p>
            <a:pPr marL="285750" indent="-285750" algn="l">
              <a:buFont typeface="Arial" panose="020B0604020202020204" pitchFamily="34" charset="0"/>
              <a:buChar char="•"/>
            </a:pPr>
            <a:r>
              <a:rPr lang="en-US" sz="1800" b="0" i="0" u="none" strike="noStrike" baseline="0" dirty="0">
                <a:latin typeface="Segoe UI Variable Small" pitchFamily="2" charset="0"/>
              </a:rPr>
              <a:t> www.wikipedia.com </a:t>
            </a:r>
          </a:p>
          <a:p>
            <a:pPr marL="285750" indent="-285750" algn="l">
              <a:buFont typeface="Arial" panose="020B0604020202020204" pitchFamily="34" charset="0"/>
              <a:buChar char="•"/>
            </a:pPr>
            <a:r>
              <a:rPr lang="en-US" sz="1800" b="0" i="0" u="none" strike="noStrike" baseline="0" dirty="0">
                <a:latin typeface="Segoe UI Variable Small" pitchFamily="2" charset="0"/>
              </a:rPr>
              <a:t> https://www.geeksforgeeks.org/ </a:t>
            </a:r>
          </a:p>
          <a:p>
            <a:pPr marL="285750" indent="-285750" algn="l">
              <a:buFont typeface="Arial" panose="020B0604020202020204" pitchFamily="34" charset="0"/>
              <a:buChar char="•"/>
            </a:pPr>
            <a:r>
              <a:rPr lang="en-US" sz="1800" b="0" i="0" u="none" strike="noStrike" baseline="0" dirty="0">
                <a:latin typeface="Segoe UI Variable Small" pitchFamily="2" charset="0"/>
              </a:rPr>
              <a:t> https://www.javatpoint.com/ </a:t>
            </a:r>
          </a:p>
          <a:p>
            <a:pPr marL="285750" indent="-285750" algn="l">
              <a:buFont typeface="Arial" panose="020B0604020202020204" pitchFamily="34" charset="0"/>
              <a:buChar char="•"/>
            </a:pPr>
            <a:r>
              <a:rPr lang="en-US" sz="1800" b="0" i="0" u="none" strike="noStrike" baseline="0" dirty="0">
                <a:latin typeface="Segoe UI Variable Small" pitchFamily="2" charset="0"/>
              </a:rPr>
              <a:t>https://www.w3schools.com/ </a:t>
            </a:r>
          </a:p>
          <a:p>
            <a:pPr marL="285750" indent="-285750" algn="l">
              <a:buFont typeface="Arial" panose="020B0604020202020204" pitchFamily="34" charset="0"/>
              <a:buChar char="•"/>
            </a:pPr>
            <a:r>
              <a:rPr lang="en-US" sz="1800" b="0" i="0" u="none" strike="noStrike" baseline="0" dirty="0">
                <a:latin typeface="Segoe UI Variable Small" pitchFamily="2" charset="0"/>
              </a:rPr>
              <a:t>•www.youtube.com </a:t>
            </a:r>
          </a:p>
          <a:p>
            <a:pPr marL="285750" indent="-285750" algn="l">
              <a:buFont typeface="Arial" panose="020B0604020202020204" pitchFamily="34" charset="0"/>
              <a:buChar char="•"/>
            </a:pPr>
            <a:endParaRPr lang="en-US" dirty="0"/>
          </a:p>
        </p:txBody>
      </p:sp>
    </p:spTree>
    <p:extLst>
      <p:ext uri="{BB962C8B-B14F-4D97-AF65-F5344CB8AC3E}">
        <p14:creationId xmlns:p14="http://schemas.microsoft.com/office/powerpoint/2010/main" val="2746640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9E1892-81E6-551C-7B5A-DEA68224520B}"/>
              </a:ext>
            </a:extLst>
          </p:cNvPr>
          <p:cNvSpPr>
            <a:spLocks noGrp="1"/>
          </p:cNvSpPr>
          <p:nvPr>
            <p:ph type="title"/>
          </p:nvPr>
        </p:nvSpPr>
        <p:spPr/>
        <p:txBody>
          <a:bodyPr/>
          <a:lstStyle/>
          <a:p>
            <a:r>
              <a:rPr lang="en-US" sz="4800" b="1" spc="600" dirty="0">
                <a:ln w="28575">
                  <a:noFill/>
                  <a:prstDash val="solid"/>
                </a:ln>
                <a:solidFill>
                  <a:schemeClr val="bg1"/>
                </a:solidFill>
                <a:latin typeface="Tw Cen MT" panose="020B0602020104020603" pitchFamily="34" charset="77"/>
              </a:rPr>
              <a:t>THANK YOU</a:t>
            </a:r>
            <a:endParaRPr lang="en-US" dirty="0"/>
          </a:p>
        </p:txBody>
      </p:sp>
    </p:spTree>
    <p:extLst>
      <p:ext uri="{BB962C8B-B14F-4D97-AF65-F5344CB8AC3E}">
        <p14:creationId xmlns:p14="http://schemas.microsoft.com/office/powerpoint/2010/main" val="1877701230"/>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F1F1912-3146-44AF-A389-9E8B77BB3688}">
  <ds:schemaRefs>
    <ds:schemaRef ds:uri="http://schemas.microsoft.com/sharepoint/v3/contenttype/forms"/>
  </ds:schemaRefs>
</ds:datastoreItem>
</file>

<file path=customXml/itemProps2.xml><?xml version="1.0" encoding="utf-8"?>
<ds:datastoreItem xmlns:ds="http://schemas.openxmlformats.org/officeDocument/2006/customXml" ds:itemID="{176493A3-2B83-4E58-86AD-56A2F2A20F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8B8ECF1-2A9D-464C-AFE8-2B3295D0BF97}">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Origin</Template>
  <TotalTime>718</TotalTime>
  <Words>338</Words>
  <Application>Microsoft Office PowerPoint</Application>
  <PresentationFormat>Custom</PresentationFormat>
  <Paragraphs>79</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AI-Based Student Dropout Prediction &amp; Counseling System</vt:lpstr>
      <vt:lpstr>CONTENTS</vt:lpstr>
      <vt:lpstr>INTRODUCTION</vt:lpstr>
      <vt:lpstr>OBJECTIVES</vt:lpstr>
      <vt:lpstr>Planning of work</vt:lpstr>
      <vt:lpstr>METHODOLOGY</vt:lpstr>
      <vt:lpstr>PowerPoint Presentation</vt:lpstr>
      <vt:lpstr>PowerPoint Presentation</vt:lpstr>
      <vt:lpstr>PowerPoint Presentation</vt:lpstr>
      <vt:lpstr>Snapshot of work</vt:lpstr>
      <vt:lpstr>PowerPoint Presentation</vt:lpstr>
      <vt:lpstr>PowerPoint Presentation</vt:lpstr>
      <vt:lpstr>PowerPoint Presentation</vt:lpstr>
      <vt:lpstr>FUTURE SCOPE</vt:lpstr>
      <vt:lpstr>References</vt:lpstr>
      <vt:lpstr>THANK YOU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Website</dc:title>
  <dc:creator>Priyanshu Singh</dc:creator>
  <cp:lastModifiedBy>admin</cp:lastModifiedBy>
  <cp:revision>20</cp:revision>
  <dcterms:created xsi:type="dcterms:W3CDTF">2022-12-13T19:31:32Z</dcterms:created>
  <dcterms:modified xsi:type="dcterms:W3CDTF">2025-11-06T16:44:55Z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